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78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37"/>
    <p:restoredTop sz="96047"/>
  </p:normalViewPr>
  <p:slideViewPr>
    <p:cSldViewPr snapToGrid="0" snapToObjects="1">
      <p:cViewPr varScale="1">
        <p:scale>
          <a:sx n="117" d="100"/>
          <a:sy n="117" d="100"/>
        </p:scale>
        <p:origin x="2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38100" cap="flat">
              <a:solidFill>
                <a:srgbClr val="DDE2F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DE2F0"/>
              </a:solidFill>
              <a:ln w="9525" cap="flat">
                <a:solidFill>
                  <a:srgbClr val="DDE2F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Seg</c:v>
                </c:pt>
                <c:pt idx="1">
                  <c:v>Ter</c:v>
                </c:pt>
                <c:pt idx="2">
                  <c:v>Qua</c:v>
                </c:pt>
                <c:pt idx="3">
                  <c:v>Qui</c:v>
                </c:pt>
                <c:pt idx="4">
                  <c:v>Sex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D8-8B48-8C33-569045E481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ln w="38100" cap="flat">
              <a:solidFill>
                <a:srgbClr val="F4695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695F"/>
              </a:solidFill>
              <a:ln w="9525" cap="flat">
                <a:solidFill>
                  <a:srgbClr val="F4695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Seg</c:v>
                </c:pt>
                <c:pt idx="1">
                  <c:v>Ter</c:v>
                </c:pt>
                <c:pt idx="2">
                  <c:v>Qua</c:v>
                </c:pt>
                <c:pt idx="3">
                  <c:v>Qui</c:v>
                </c:pt>
                <c:pt idx="4">
                  <c:v>Sex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</c:v>
                </c:pt>
                <c:pt idx="1">
                  <c:v>38</c:v>
                </c:pt>
                <c:pt idx="2">
                  <c:v>30</c:v>
                </c:pt>
                <c:pt idx="3">
                  <c:v>14</c:v>
                </c:pt>
                <c:pt idx="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D8-8B48-8C33-569045E481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9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EDF0F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495"/>
                    </a:solidFill>
                    <a:latin typeface="Arial"/>
                  </a:defRPr>
                </a:pPr>
                <a:r>
                  <a:rPr lang="pt-BR" sz="1000" b="0" i="0" u="none" strike="noStrike" noProof="1">
                    <a:solidFill>
                      <a:srgbClr val="6B7495"/>
                    </a:solidFill>
                    <a:latin typeface="Arial"/>
                  </a:rPr>
                  <a:t>tarefas restantes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49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relativo</c:v>
                </c:pt>
              </c:strCache>
            </c:strRef>
          </c:tx>
          <c:spPr>
            <a:solidFill>
              <a:srgbClr val="2230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47-9E4A-9F9F-81558FF2C30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B47-9E4A-9F9F-81558FF2C30B}"/>
              </c:ext>
            </c:extLst>
          </c:dPt>
          <c:dPt>
            <c:idx val="2"/>
            <c:invertIfNegative val="0"/>
            <c:bubble3D val="0"/>
            <c:spPr>
              <a:solidFill>
                <a:srgbClr val="3D4C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47-9E4A-9F9F-81558FF2C30B}"/>
              </c:ext>
            </c:extLst>
          </c:dPt>
          <c:dPt>
            <c:idx val="3"/>
            <c:invertIfNegative val="0"/>
            <c:bubble3D val="0"/>
            <c:spPr>
              <a:solidFill>
                <a:srgbClr val="F469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47-9E4A-9F9F-81558FF2C30B}"/>
              </c:ext>
            </c:extLst>
          </c:dPt>
          <c:dPt>
            <c:idx val="4"/>
            <c:invertIfNegative val="0"/>
            <c:bubble3D val="0"/>
            <c:spPr>
              <a:solidFill>
                <a:srgbClr val="F469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B47-9E4A-9F9F-81558FF2C30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C2233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Requisitos</c:v>
                </c:pt>
                <c:pt idx="1">
                  <c:v>Projeto</c:v>
                </c:pt>
                <c:pt idx="2">
                  <c:v>Código</c:v>
                </c:pt>
                <c:pt idx="3">
                  <c:v>Testes</c:v>
                </c:pt>
                <c:pt idx="4">
                  <c:v>Produção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25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47-9E4A-9F9F-81558FF2C3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9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DF0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Cascata</c:v>
                </c:pt>
              </c:strCache>
            </c:strRef>
          </c:tx>
          <c:spPr>
            <a:ln w="38100" cap="flat">
              <a:solidFill>
                <a:srgbClr val="6B749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7495"/>
              </a:solidFill>
              <a:ln w="9525" cap="flat">
                <a:solidFill>
                  <a:srgbClr val="6B7495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75-BB4B-ADF1-4E6AD7ED00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Iterativo e incremental</c:v>
                </c:pt>
              </c:strCache>
            </c:strRef>
          </c:tx>
          <c:spPr>
            <a:ln w="38100" cap="flat">
              <a:solidFill>
                <a:srgbClr val="1E8F6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F6E"/>
              </a:solidFill>
              <a:ln w="9525" cap="flat">
                <a:solidFill>
                  <a:srgbClr val="1E8F6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14</c:v>
                </c:pt>
                <c:pt idx="1">
                  <c:v>27</c:v>
                </c:pt>
                <c:pt idx="2">
                  <c:v>39</c:v>
                </c:pt>
                <c:pt idx="3">
                  <c:v>52</c:v>
                </c:pt>
                <c:pt idx="4">
                  <c:v>64</c:v>
                </c:pt>
                <c:pt idx="5">
                  <c:v>77</c:v>
                </c:pt>
                <c:pt idx="6">
                  <c:v>89</c:v>
                </c:pt>
                <c:pt idx="7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75-BB4B-ADF1-4E6AD7ED00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9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DF0F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495"/>
                    </a:solidFill>
                    <a:latin typeface="Arial"/>
                  </a:defRPr>
                </a:pPr>
                <a:r>
                  <a:rPr lang="pt-BR" sz="1000" b="0" i="0" u="none" strike="noStrike" noProof="1">
                    <a:solidFill>
                      <a:srgbClr val="6B7495"/>
                    </a:solidFill>
                    <a:latin typeface="Arial"/>
                  </a:rPr>
                  <a:t>% do valor já entregue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49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780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analogia principal, use-a devagar. A pessoa não quer um carro, ela quer chegar mais rápido no trabalho. O skate já resolve um pouco disso na semana 1. A bicicleta resolve melhor. E assim por diante. Aponte a seta verde de cima: toda etapa entrega algo usável, isso é o incremento. Aponte a seta vermelha de baixo: cada etapa melhora a anterior, isso é a iteração. Feche com a frase do rodapé: um garante que fique pronto, o outro garante que fique bom.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E06C6-5417-23E5-4A3B-02F6E48B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8897A-8ECA-6E1B-A71B-D81835458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47E47-9CC6-D914-1058-465C926E3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65678-63FF-A265-E8A6-0FCEEF1E9E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244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C91AC-D7A6-B767-99B8-5268AA76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47A0E-9D27-6181-10B5-5190A2C4B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A53B3-859E-2F32-43FC-E31B953BF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80C10-56EE-A299-C74A-B27EF5D1F5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43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5120640" cy="5120640"/>
          </a:xfrm>
          <a:prstGeom prst="donut">
            <a:avLst/>
          </a:prstGeom>
          <a:solidFill>
            <a:srgbClr val="3D4C92">
              <a:alpha val="45000"/>
            </a:srgbClr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" name="Shape 1"/>
          <p:cNvSpPr/>
          <p:nvPr/>
        </p:nvSpPr>
        <p:spPr>
          <a:xfrm>
            <a:off x="9052560" y="2011680"/>
            <a:ext cx="2743200" cy="2743200"/>
          </a:xfrm>
          <a:prstGeom prst="donut">
            <a:avLst/>
          </a:prstGeom>
          <a:solidFill>
            <a:srgbClr val="F4695F">
              <a:alpha val="75000"/>
            </a:srgbClr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4" name="Shape 2"/>
          <p:cNvSpPr/>
          <p:nvPr/>
        </p:nvSpPr>
        <p:spPr>
          <a:xfrm>
            <a:off x="10012680" y="2971800"/>
            <a:ext cx="822960" cy="82296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200" b="1" kern="0" spc="160" noProof="1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 ·  SEMINÁRIO · GRUPO C1</a:t>
            </a:r>
            <a:endParaRPr lang="pt-BR" sz="1200" noProof="1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4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Iterativo</a:t>
            </a:r>
            <a:endParaRPr lang="pt-BR" sz="4800" noProof="1"/>
          </a:p>
          <a:p>
            <a:pPr marL="0" indent="0">
              <a:lnSpc>
                <a:spcPct val="100000"/>
              </a:lnSpc>
              <a:buNone/>
            </a:pPr>
            <a:r>
              <a:rPr lang="pt-BR" sz="4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Incremental</a:t>
            </a:r>
            <a:endParaRPr lang="pt-BR" sz="4800" noProof="1"/>
          </a:p>
        </p:txBody>
      </p:sp>
      <p:sp>
        <p:nvSpPr>
          <p:cNvPr id="7" name="Shape 5"/>
          <p:cNvSpPr/>
          <p:nvPr/>
        </p:nvSpPr>
        <p:spPr>
          <a:xfrm>
            <a:off x="685800" y="3977640"/>
            <a:ext cx="1280160" cy="45720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8" name="Text 6"/>
          <p:cNvSpPr txBox="1"/>
          <p:nvPr/>
        </p:nvSpPr>
        <p:spPr>
          <a:xfrm>
            <a:off x="685800" y="4251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1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em partes, melhorar a cada volta.</a:t>
            </a:r>
            <a:endParaRPr lang="pt-BR" sz="1600" noProof="1"/>
          </a:p>
        </p:txBody>
      </p:sp>
      <p:sp>
        <p:nvSpPr>
          <p:cNvPr id="9" name="Text 7"/>
          <p:cNvSpPr txBox="1"/>
          <p:nvPr/>
        </p:nvSpPr>
        <p:spPr>
          <a:xfrm>
            <a:off x="685800" y="4983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Matos ·  Davi Otávio ·  João Pedro</a:t>
            </a:r>
            <a:endParaRPr lang="pt-BR" sz="1400" noProof="1"/>
          </a:p>
        </p:txBody>
      </p:sp>
      <p:sp>
        <p:nvSpPr>
          <p:cNvPr id="10" name="Text 8"/>
          <p:cNvSpPr txBox="1"/>
          <p:nvPr/>
        </p:nvSpPr>
        <p:spPr>
          <a:xfrm>
            <a:off x="685800" y="53492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1">
                <a:solidFill>
                  <a:srgbClr val="8E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 ·  2026</a:t>
            </a:r>
            <a:endParaRPr lang="pt-BR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 hoje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2009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5" name="Shape 3"/>
          <p:cNvSpPr/>
          <p:nvPr/>
        </p:nvSpPr>
        <p:spPr>
          <a:xfrm>
            <a:off x="978408" y="1874520"/>
            <a:ext cx="548640" cy="548640"/>
          </a:xfrm>
          <a:prstGeom prst="ellipse">
            <a:avLst/>
          </a:prstGeom>
          <a:solidFill>
            <a:srgbClr val="22306B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20281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09928" y="19293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b="1" noProof="1">
                <a:solidFill>
                  <a:srgbClr val="F4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pt-BR" sz="2200" noProof="1"/>
          </a:p>
        </p:txBody>
      </p:sp>
      <p:sp>
        <p:nvSpPr>
          <p:cNvPr id="8" name="Text 5"/>
          <p:cNvSpPr txBox="1"/>
          <p:nvPr/>
        </p:nvSpPr>
        <p:spPr>
          <a:xfrm>
            <a:off x="2377440" y="18562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Fundações e evolução</a:t>
            </a:r>
            <a:endParaRPr lang="pt-BR" sz="1800" noProof="1"/>
          </a:p>
        </p:txBody>
      </p:sp>
      <p:sp>
        <p:nvSpPr>
          <p:cNvPr id="9" name="Text 6"/>
          <p:cNvSpPr txBox="1"/>
          <p:nvPr/>
        </p:nvSpPr>
        <p:spPr>
          <a:xfrm>
            <a:off x="2377440" y="22037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veio e o que significa cada palavra</a:t>
            </a:r>
            <a:endParaRPr lang="pt-BR" sz="1250" noProof="1"/>
          </a:p>
        </p:txBody>
      </p:sp>
      <p:sp>
        <p:nvSpPr>
          <p:cNvPr id="10" name="Text 7"/>
          <p:cNvSpPr txBox="1"/>
          <p:nvPr/>
        </p:nvSpPr>
        <p:spPr>
          <a:xfrm>
            <a:off x="9585655" y="20025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2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</a:t>
            </a:r>
            <a:endParaRPr lang="pt-BR" sz="1200" noProof="1"/>
          </a:p>
        </p:txBody>
      </p:sp>
      <p:sp>
        <p:nvSpPr>
          <p:cNvPr id="11" name="Shape 8"/>
          <p:cNvSpPr/>
          <p:nvPr/>
        </p:nvSpPr>
        <p:spPr>
          <a:xfrm>
            <a:off x="685800" y="2743200"/>
            <a:ext cx="1082009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2" name="Shape 9"/>
          <p:cNvSpPr/>
          <p:nvPr/>
        </p:nvSpPr>
        <p:spPr>
          <a:xfrm>
            <a:off x="978408" y="2926080"/>
            <a:ext cx="548640" cy="548640"/>
          </a:xfrm>
          <a:prstGeom prst="ellipse">
            <a:avLst/>
          </a:prstGeom>
          <a:solidFill>
            <a:srgbClr val="22306B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027" y="30796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09928" y="29809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b="1" noProof="1">
                <a:solidFill>
                  <a:srgbClr val="F4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pt-BR" sz="2200" noProof="1"/>
          </a:p>
        </p:txBody>
      </p:sp>
      <p:sp>
        <p:nvSpPr>
          <p:cNvPr id="15" name="Text 11"/>
          <p:cNvSpPr txBox="1"/>
          <p:nvPr/>
        </p:nvSpPr>
        <p:spPr>
          <a:xfrm>
            <a:off x="2377440" y="290779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Mecânica prática</a:t>
            </a:r>
            <a:endParaRPr lang="pt-BR" sz="1800" noProof="1"/>
          </a:p>
        </p:txBody>
      </p:sp>
      <p:sp>
        <p:nvSpPr>
          <p:cNvPr id="16" name="Text 12"/>
          <p:cNvSpPr txBox="1"/>
          <p:nvPr/>
        </p:nvSpPr>
        <p:spPr>
          <a:xfrm>
            <a:off x="2377440" y="32552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sprint por dentro: ritos, quadro e gráficos</a:t>
            </a:r>
            <a:endParaRPr lang="pt-BR" sz="1250" noProof="1"/>
          </a:p>
        </p:txBody>
      </p:sp>
      <p:sp>
        <p:nvSpPr>
          <p:cNvPr id="17" name="Text 13"/>
          <p:cNvSpPr txBox="1"/>
          <p:nvPr/>
        </p:nvSpPr>
        <p:spPr>
          <a:xfrm>
            <a:off x="9585655" y="3054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2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</a:t>
            </a:r>
            <a:endParaRPr lang="pt-BR" sz="1200" noProof="1"/>
          </a:p>
        </p:txBody>
      </p:sp>
      <p:sp>
        <p:nvSpPr>
          <p:cNvPr id="18" name="Shape 14"/>
          <p:cNvSpPr/>
          <p:nvPr/>
        </p:nvSpPr>
        <p:spPr>
          <a:xfrm>
            <a:off x="685800" y="3794760"/>
            <a:ext cx="1082009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9" name="Shape 15"/>
          <p:cNvSpPr/>
          <p:nvPr/>
        </p:nvSpPr>
        <p:spPr>
          <a:xfrm>
            <a:off x="978408" y="3977640"/>
            <a:ext cx="548640" cy="548640"/>
          </a:xfrm>
          <a:prstGeom prst="ellipse">
            <a:avLst/>
          </a:prstGeom>
          <a:solidFill>
            <a:srgbClr val="22306B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027" y="413125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709928" y="40325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b="1" noProof="1">
                <a:solidFill>
                  <a:srgbClr val="F4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pt-BR" sz="2200" noProof="1"/>
          </a:p>
        </p:txBody>
      </p:sp>
      <p:sp>
        <p:nvSpPr>
          <p:cNvPr id="22" name="Text 17"/>
          <p:cNvSpPr txBox="1"/>
          <p:nvPr/>
        </p:nvSpPr>
        <p:spPr>
          <a:xfrm>
            <a:off x="2377440" y="39593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real</a:t>
            </a:r>
            <a:endParaRPr lang="pt-BR" sz="1800" noProof="1"/>
          </a:p>
        </p:txBody>
      </p:sp>
      <p:sp>
        <p:nvSpPr>
          <p:cNvPr id="23" name="Text 18"/>
          <p:cNvSpPr txBox="1"/>
          <p:nvPr/>
        </p:nvSpPr>
        <p:spPr>
          <a:xfrm>
            <a:off x="2377440" y="430682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 erro, métricas e o que vem depois</a:t>
            </a:r>
            <a:endParaRPr lang="pt-BR" sz="1250" noProof="1"/>
          </a:p>
        </p:txBody>
      </p:sp>
      <p:sp>
        <p:nvSpPr>
          <p:cNvPr id="24" name="Text 19"/>
          <p:cNvSpPr txBox="1"/>
          <p:nvPr/>
        </p:nvSpPr>
        <p:spPr>
          <a:xfrm>
            <a:off x="9585655" y="41056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2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pt-BR" sz="1200" noProof="1"/>
          </a:p>
        </p:txBody>
      </p:sp>
      <p:sp>
        <p:nvSpPr>
          <p:cNvPr id="25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26" name="Shape 21"/>
          <p:cNvSpPr/>
          <p:nvPr/>
        </p:nvSpPr>
        <p:spPr>
          <a:xfrm>
            <a:off x="978408" y="5029200"/>
            <a:ext cx="548640" cy="548640"/>
          </a:xfrm>
          <a:prstGeom prst="ellipse">
            <a:avLst/>
          </a:prstGeom>
          <a:solidFill>
            <a:srgbClr val="22306B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027" y="5182819"/>
            <a:ext cx="241402" cy="2414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709928" y="50840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b="1" noProof="1">
                <a:solidFill>
                  <a:srgbClr val="F4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pt-BR" sz="2200" noProof="1"/>
          </a:p>
        </p:txBody>
      </p:sp>
      <p:sp>
        <p:nvSpPr>
          <p:cNvPr id="29" name="Text 23"/>
          <p:cNvSpPr txBox="1"/>
          <p:nvPr/>
        </p:nvSpPr>
        <p:spPr>
          <a:xfrm>
            <a:off x="2377440" y="50109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</a:t>
            </a:r>
            <a:endParaRPr lang="pt-BR" sz="1800" noProof="1"/>
          </a:p>
        </p:txBody>
      </p:sp>
      <p:sp>
        <p:nvSpPr>
          <p:cNvPr id="30" name="Text 24"/>
          <p:cNvSpPr txBox="1"/>
          <p:nvPr/>
        </p:nvSpPr>
        <p:spPr>
          <a:xfrm>
            <a:off x="2377440" y="53583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trabalho em grupo usando os modelos cascata e iterativo/incremental</a:t>
            </a:r>
            <a:endParaRPr lang="pt-BR" sz="1250" noProof="1"/>
          </a:p>
        </p:txBody>
      </p:sp>
      <p:sp>
        <p:nvSpPr>
          <p:cNvPr id="31" name="Text 25"/>
          <p:cNvSpPr txBox="1"/>
          <p:nvPr/>
        </p:nvSpPr>
        <p:spPr>
          <a:xfrm>
            <a:off x="9585655" y="51572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2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</a:t>
            </a:r>
            <a:endParaRPr lang="pt-BR" sz="1200" noProof="1"/>
          </a:p>
        </p:txBody>
      </p:sp>
      <p:sp>
        <p:nvSpPr>
          <p:cNvPr id="33" name="Text 27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pt-BR" sz="900" noProof="1"/>
          </a:p>
        </p:txBody>
      </p:sp>
      <p:sp>
        <p:nvSpPr>
          <p:cNvPr id="34" name="Text 28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3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05840"/>
            <a:ext cx="4754880" cy="4754880"/>
          </a:xfrm>
          <a:prstGeom prst="donut">
            <a:avLst/>
          </a:prstGeom>
          <a:solidFill>
            <a:srgbClr val="3D4C92">
              <a:alpha val="40000"/>
            </a:srgbClr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" name="Shape 1"/>
          <p:cNvSpPr/>
          <p:nvPr/>
        </p:nvSpPr>
        <p:spPr>
          <a:xfrm>
            <a:off x="9966960" y="2377440"/>
            <a:ext cx="2011680" cy="2011680"/>
          </a:xfrm>
          <a:prstGeom prst="ellipse">
            <a:avLst/>
          </a:prstGeom>
          <a:solidFill>
            <a:srgbClr val="17204A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0" y="2940710"/>
            <a:ext cx="885139" cy="8851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6800" b="1" noProof="1">
                <a:solidFill>
                  <a:srgbClr val="3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pt-BR" sz="6800" noProof="1"/>
          </a:p>
        </p:txBody>
      </p:sp>
      <p:sp>
        <p:nvSpPr>
          <p:cNvPr id="6" name="Text 3"/>
          <p:cNvSpPr txBox="1"/>
          <p:nvPr/>
        </p:nvSpPr>
        <p:spPr>
          <a:xfrm>
            <a:off x="685800" y="2514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3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Fundações e evolução</a:t>
            </a:r>
            <a:endParaRPr lang="pt-BR" sz="3800" noProof="1"/>
          </a:p>
        </p:txBody>
      </p:sp>
      <p:sp>
        <p:nvSpPr>
          <p:cNvPr id="7" name="Shape 4"/>
          <p:cNvSpPr/>
          <p:nvPr/>
        </p:nvSpPr>
        <p:spPr>
          <a:xfrm>
            <a:off x="685800" y="3794760"/>
            <a:ext cx="1097280" cy="45720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8" name="Shape 5"/>
          <p:cNvSpPr/>
          <p:nvPr/>
        </p:nvSpPr>
        <p:spPr>
          <a:xfrm>
            <a:off x="685800" y="4206240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9" name="Text 6"/>
          <p:cNvSpPr txBox="1"/>
          <p:nvPr/>
        </p:nvSpPr>
        <p:spPr>
          <a:xfrm>
            <a:off x="941832" y="41148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1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modelo cascata trava</a:t>
            </a:r>
            <a:endParaRPr lang="pt-BR" sz="1400" noProof="1"/>
          </a:p>
        </p:txBody>
      </p:sp>
      <p:sp>
        <p:nvSpPr>
          <p:cNvPr id="10" name="Shape 7"/>
          <p:cNvSpPr/>
          <p:nvPr/>
        </p:nvSpPr>
        <p:spPr>
          <a:xfrm>
            <a:off x="685800" y="4626864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1" name="Text 8"/>
          <p:cNvSpPr txBox="1"/>
          <p:nvPr/>
        </p:nvSpPr>
        <p:spPr>
          <a:xfrm>
            <a:off x="941832" y="453542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1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iterativo e o que é incremental</a:t>
            </a:r>
            <a:endParaRPr lang="pt-BR" sz="1400" noProof="1"/>
          </a:p>
        </p:txBody>
      </p:sp>
      <p:sp>
        <p:nvSpPr>
          <p:cNvPr id="12" name="Shape 9"/>
          <p:cNvSpPr/>
          <p:nvPr/>
        </p:nvSpPr>
        <p:spPr>
          <a:xfrm>
            <a:off x="685800" y="5047488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3" name="Text 10"/>
          <p:cNvSpPr txBox="1"/>
          <p:nvPr/>
        </p:nvSpPr>
        <p:spPr>
          <a:xfrm>
            <a:off x="941832" y="49560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1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do tempo que começa antes do que você imagina</a:t>
            </a:r>
            <a:endParaRPr lang="pt-BR" sz="1400" noProof="1"/>
          </a:p>
        </p:txBody>
      </p:sp>
      <p:sp>
        <p:nvSpPr>
          <p:cNvPr id="14" name="Text 11"/>
          <p:cNvSpPr txBox="1"/>
          <p:nvPr/>
        </p:nvSpPr>
        <p:spPr>
          <a:xfrm>
            <a:off x="68580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</a:t>
            </a:r>
            <a:endParaRPr lang="pt-BR" sz="15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4">
            <a:extLst>
              <a:ext uri="{FF2B5EF4-FFF2-40B4-BE49-F238E27FC236}">
                <a16:creationId xmlns:a16="http://schemas.microsoft.com/office/drawing/2014/main" id="{875F1805-93AB-6C07-C1D4-24BDFEA10196}"/>
              </a:ext>
            </a:extLst>
          </p:cNvPr>
          <p:cNvSpPr/>
          <p:nvPr/>
        </p:nvSpPr>
        <p:spPr>
          <a:xfrm>
            <a:off x="5543479" y="3548484"/>
            <a:ext cx="92228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B73A6A6B-C787-3E65-AC01-C21B7ED208F8}"/>
              </a:ext>
            </a:extLst>
          </p:cNvPr>
          <p:cNvSpPr/>
          <p:nvPr/>
        </p:nvSpPr>
        <p:spPr>
          <a:xfrm>
            <a:off x="3857044" y="3131144"/>
            <a:ext cx="113779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A8DC8F56-FF40-475A-8C88-52819FAEF4EF}"/>
              </a:ext>
            </a:extLst>
          </p:cNvPr>
          <p:cNvSpPr/>
          <p:nvPr/>
        </p:nvSpPr>
        <p:spPr>
          <a:xfrm>
            <a:off x="2395265" y="2732749"/>
            <a:ext cx="92228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FUNDAÇÕES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cascata: uma via de mão única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9677095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9677095" y="868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</a:t>
            </a:r>
            <a:endParaRPr lang="pt-BR" sz="1100" noProof="1"/>
          </a:p>
        </p:txBody>
      </p:sp>
      <p:sp>
        <p:nvSpPr>
          <p:cNvPr id="6" name="Shape 4"/>
          <p:cNvSpPr/>
          <p:nvPr/>
        </p:nvSpPr>
        <p:spPr>
          <a:xfrm>
            <a:off x="871728" y="2348675"/>
            <a:ext cx="92228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7" name="Text 5"/>
          <p:cNvSpPr txBox="1"/>
          <p:nvPr/>
        </p:nvSpPr>
        <p:spPr>
          <a:xfrm>
            <a:off x="944880" y="2522411"/>
            <a:ext cx="7755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pt-BR" sz="1150" noProof="1"/>
          </a:p>
        </p:txBody>
      </p:sp>
      <p:sp>
        <p:nvSpPr>
          <p:cNvPr id="8" name="Shape 6"/>
          <p:cNvSpPr/>
          <p:nvPr/>
        </p:nvSpPr>
        <p:spPr>
          <a:xfrm>
            <a:off x="1930750" y="2749671"/>
            <a:ext cx="310896" cy="201168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0" name="Text 8"/>
          <p:cNvSpPr txBox="1"/>
          <p:nvPr/>
        </p:nvSpPr>
        <p:spPr>
          <a:xfrm>
            <a:off x="2395265" y="2901913"/>
            <a:ext cx="9222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pt-BR" sz="1150" noProof="1"/>
          </a:p>
        </p:txBody>
      </p:sp>
      <p:sp>
        <p:nvSpPr>
          <p:cNvPr id="11" name="Shape 9"/>
          <p:cNvSpPr/>
          <p:nvPr/>
        </p:nvSpPr>
        <p:spPr>
          <a:xfrm>
            <a:off x="3436420" y="3122630"/>
            <a:ext cx="310896" cy="201168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3" name="Text 11"/>
          <p:cNvSpPr txBox="1"/>
          <p:nvPr/>
        </p:nvSpPr>
        <p:spPr>
          <a:xfrm>
            <a:off x="3857042" y="3289640"/>
            <a:ext cx="11377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pt-BR" sz="1150" noProof="1"/>
          </a:p>
        </p:txBody>
      </p:sp>
      <p:sp>
        <p:nvSpPr>
          <p:cNvPr id="14" name="Shape 12"/>
          <p:cNvSpPr/>
          <p:nvPr/>
        </p:nvSpPr>
        <p:spPr>
          <a:xfrm>
            <a:off x="5113712" y="3528908"/>
            <a:ext cx="310896" cy="201168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6" name="Text 14"/>
          <p:cNvSpPr txBox="1"/>
          <p:nvPr/>
        </p:nvSpPr>
        <p:spPr>
          <a:xfrm>
            <a:off x="5543478" y="3705246"/>
            <a:ext cx="922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pt-BR" sz="1150" noProof="1"/>
          </a:p>
        </p:txBody>
      </p:sp>
      <p:sp>
        <p:nvSpPr>
          <p:cNvPr id="17" name="Shape 15"/>
          <p:cNvSpPr/>
          <p:nvPr/>
        </p:nvSpPr>
        <p:spPr>
          <a:xfrm>
            <a:off x="6575490" y="3929484"/>
            <a:ext cx="310896" cy="201168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8" name="Shape 16"/>
          <p:cNvSpPr/>
          <p:nvPr/>
        </p:nvSpPr>
        <p:spPr>
          <a:xfrm>
            <a:off x="6996114" y="3942346"/>
            <a:ext cx="913446" cy="566928"/>
          </a:xfrm>
          <a:prstGeom prst="roundRect">
            <a:avLst>
              <a:gd name="adj" fmla="val 12903"/>
            </a:avLst>
          </a:prstGeom>
          <a:solidFill>
            <a:srgbClr val="22306B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9" name="Text 17"/>
          <p:cNvSpPr txBox="1"/>
          <p:nvPr/>
        </p:nvSpPr>
        <p:spPr>
          <a:xfrm>
            <a:off x="6996114" y="4110228"/>
            <a:ext cx="91344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pt-BR" sz="1150" noProof="1"/>
          </a:p>
        </p:txBody>
      </p:sp>
      <p:sp>
        <p:nvSpPr>
          <p:cNvPr id="20" name="Shape 18"/>
          <p:cNvSpPr/>
          <p:nvPr/>
        </p:nvSpPr>
        <p:spPr>
          <a:xfrm>
            <a:off x="777240" y="4956048"/>
            <a:ext cx="7132320" cy="237744"/>
          </a:xfrm>
          <a:prstGeom prst="leftArrow">
            <a:avLst/>
          </a:prstGeom>
          <a:solidFill>
            <a:srgbClr val="F4695F">
              <a:alpha val="65000"/>
            </a:srgbClr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1" name="Text 19"/>
          <p:cNvSpPr txBox="1"/>
          <p:nvPr/>
        </p:nvSpPr>
        <p:spPr>
          <a:xfrm>
            <a:off x="777240" y="52852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feedback do cliente — 6 meses depois</a:t>
            </a:r>
            <a:endParaRPr lang="pt-BR" sz="1150" noProof="1"/>
          </a:p>
        </p:txBody>
      </p:sp>
      <p:sp>
        <p:nvSpPr>
          <p:cNvPr id="22" name="Shape 20"/>
          <p:cNvSpPr/>
          <p:nvPr/>
        </p:nvSpPr>
        <p:spPr>
          <a:xfrm>
            <a:off x="8275320" y="1783080"/>
            <a:ext cx="3246120" cy="3977640"/>
          </a:xfrm>
          <a:prstGeom prst="roundRect">
            <a:avLst>
              <a:gd name="adj" fmla="val 3380"/>
            </a:avLst>
          </a:prstGeom>
          <a:solidFill>
            <a:srgbClr val="FDE7E5"/>
          </a:solidFill>
          <a:ln w="12700">
            <a:solidFill>
              <a:srgbClr val="FDE7E5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3" name="Shape 21"/>
          <p:cNvSpPr/>
          <p:nvPr/>
        </p:nvSpPr>
        <p:spPr>
          <a:xfrm>
            <a:off x="854964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259" y="2211019"/>
            <a:ext cx="241402" cy="24140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5496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dá errado</a:t>
            </a:r>
            <a:endParaRPr lang="pt-BR" sz="1700" noProof="1"/>
          </a:p>
        </p:txBody>
      </p:sp>
      <p:sp>
        <p:nvSpPr>
          <p:cNvPr id="26" name="Shape 23"/>
          <p:cNvSpPr/>
          <p:nvPr/>
        </p:nvSpPr>
        <p:spPr>
          <a:xfrm>
            <a:off x="8549640" y="3255264"/>
            <a:ext cx="100584" cy="100584"/>
          </a:xfrm>
          <a:prstGeom prst="ellipse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7" name="Text 24"/>
          <p:cNvSpPr txBox="1"/>
          <p:nvPr/>
        </p:nvSpPr>
        <p:spPr>
          <a:xfrm>
            <a:off x="8759952" y="31821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é decidido quando ninguém ainda entende o problema</a:t>
            </a:r>
            <a:endParaRPr lang="pt-BR" sz="1150" noProof="1"/>
          </a:p>
        </p:txBody>
      </p:sp>
      <p:sp>
        <p:nvSpPr>
          <p:cNvPr id="28" name="Shape 25"/>
          <p:cNvSpPr/>
          <p:nvPr/>
        </p:nvSpPr>
        <p:spPr>
          <a:xfrm>
            <a:off x="8549640" y="3877056"/>
            <a:ext cx="100584" cy="100584"/>
          </a:xfrm>
          <a:prstGeom prst="ellipse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9" name="Text 26"/>
          <p:cNvSpPr txBox="1"/>
          <p:nvPr/>
        </p:nvSpPr>
        <p:spPr>
          <a:xfrm>
            <a:off x="8759952" y="380390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fase só começa quando a anterior acaba: muita espera</a:t>
            </a:r>
            <a:endParaRPr lang="pt-BR" sz="1150" noProof="1"/>
          </a:p>
        </p:txBody>
      </p:sp>
      <p:sp>
        <p:nvSpPr>
          <p:cNvPr id="30" name="Shape 27"/>
          <p:cNvSpPr/>
          <p:nvPr/>
        </p:nvSpPr>
        <p:spPr>
          <a:xfrm>
            <a:off x="8549640" y="4498848"/>
            <a:ext cx="100584" cy="100584"/>
          </a:xfrm>
          <a:prstGeom prst="ellipse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1" name="Text 28"/>
          <p:cNvSpPr txBox="1"/>
          <p:nvPr/>
        </p:nvSpPr>
        <p:spPr>
          <a:xfrm>
            <a:off x="8759952" y="44256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aparece no teste, quando já custa caro consertar</a:t>
            </a:r>
            <a:endParaRPr lang="pt-BR" sz="1150" noProof="1"/>
          </a:p>
        </p:txBody>
      </p:sp>
      <p:sp>
        <p:nvSpPr>
          <p:cNvPr id="32" name="Shape 29"/>
          <p:cNvSpPr/>
          <p:nvPr/>
        </p:nvSpPr>
        <p:spPr>
          <a:xfrm>
            <a:off x="8549640" y="5120640"/>
            <a:ext cx="100584" cy="100584"/>
          </a:xfrm>
          <a:prstGeom prst="ellipse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3" name="Text 30"/>
          <p:cNvSpPr txBox="1"/>
          <p:nvPr/>
        </p:nvSpPr>
        <p:spPr>
          <a:xfrm>
            <a:off x="8759952" y="50474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passa meses sem ver nada pronto</a:t>
            </a:r>
            <a:endParaRPr lang="pt-BR" sz="1150" noProof="1"/>
          </a:p>
        </p:txBody>
      </p:sp>
      <p:sp>
        <p:nvSpPr>
          <p:cNvPr id="34" name="Text 31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FUNDAÇÕES E EVOLUÇÃO</a:t>
            </a:r>
            <a:endParaRPr lang="pt-BR" sz="900" noProof="1"/>
          </a:p>
        </p:txBody>
      </p:sp>
      <p:sp>
        <p:nvSpPr>
          <p:cNvPr id="35" name="Text 32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FUNDAÇÕES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moda nova: 70 anos de história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9677095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9677095" y="868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</a:t>
            </a:r>
            <a:endParaRPr lang="pt-BR" sz="1100" noProof="1"/>
          </a:p>
        </p:txBody>
      </p:sp>
      <p:sp>
        <p:nvSpPr>
          <p:cNvPr id="6" name="Shape 4"/>
          <p:cNvSpPr/>
          <p:nvPr/>
        </p:nvSpPr>
        <p:spPr>
          <a:xfrm>
            <a:off x="960120" y="3776472"/>
            <a:ext cx="9921240" cy="54864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7" name="Shape 5"/>
          <p:cNvSpPr/>
          <p:nvPr/>
        </p:nvSpPr>
        <p:spPr>
          <a:xfrm>
            <a:off x="1252728" y="3703320"/>
            <a:ext cx="201168" cy="201168"/>
          </a:xfrm>
          <a:prstGeom prst="ellipse">
            <a:avLst/>
          </a:prstGeom>
          <a:solidFill>
            <a:srgbClr val="F4695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8" name="Shape 6"/>
          <p:cNvSpPr/>
          <p:nvPr/>
        </p:nvSpPr>
        <p:spPr>
          <a:xfrm>
            <a:off x="530352" y="205740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9" name="Text 7"/>
          <p:cNvSpPr txBox="1"/>
          <p:nvPr/>
        </p:nvSpPr>
        <p:spPr>
          <a:xfrm>
            <a:off x="64008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F4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1958</a:t>
            </a:r>
            <a:endParaRPr lang="pt-BR" sz="1500" noProof="1"/>
          </a:p>
        </p:txBody>
      </p:sp>
      <p:sp>
        <p:nvSpPr>
          <p:cNvPr id="10" name="Text 8"/>
          <p:cNvSpPr txBox="1"/>
          <p:nvPr/>
        </p:nvSpPr>
        <p:spPr>
          <a:xfrm>
            <a:off x="640080" y="2487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11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Mercury (NASA)</a:t>
            </a:r>
            <a:endParaRPr lang="pt-BR" sz="1100" noProof="1"/>
          </a:p>
        </p:txBody>
      </p:sp>
      <p:sp>
        <p:nvSpPr>
          <p:cNvPr id="11" name="Text 9"/>
          <p:cNvSpPr txBox="1"/>
          <p:nvPr/>
        </p:nvSpPr>
        <p:spPr>
          <a:xfrm>
            <a:off x="640080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9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curtos e testes contínuos — antes de existir “ágil”.</a:t>
            </a:r>
            <a:endParaRPr lang="pt-BR" sz="950" noProof="1"/>
          </a:p>
        </p:txBody>
      </p:sp>
      <p:sp>
        <p:nvSpPr>
          <p:cNvPr id="12" name="Shape 10"/>
          <p:cNvSpPr/>
          <p:nvPr/>
        </p:nvSpPr>
        <p:spPr>
          <a:xfrm>
            <a:off x="1335024" y="3474720"/>
            <a:ext cx="36576" cy="274320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3" name="Shape 11"/>
          <p:cNvSpPr/>
          <p:nvPr/>
        </p:nvSpPr>
        <p:spPr>
          <a:xfrm>
            <a:off x="3090672" y="3703320"/>
            <a:ext cx="201168" cy="201168"/>
          </a:xfrm>
          <a:prstGeom prst="ellipse">
            <a:avLst/>
          </a:prstGeom>
          <a:solidFill>
            <a:srgbClr val="22306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4" name="Shape 12"/>
          <p:cNvSpPr/>
          <p:nvPr/>
        </p:nvSpPr>
        <p:spPr>
          <a:xfrm>
            <a:off x="2368296" y="41605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5" name="Text 13"/>
          <p:cNvSpPr txBox="1"/>
          <p:nvPr/>
        </p:nvSpPr>
        <p:spPr>
          <a:xfrm>
            <a:off x="2478024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1970</a:t>
            </a:r>
            <a:endParaRPr lang="pt-BR" sz="1500" noProof="1"/>
          </a:p>
        </p:txBody>
      </p:sp>
      <p:sp>
        <p:nvSpPr>
          <p:cNvPr id="16" name="Text 14"/>
          <p:cNvSpPr txBox="1"/>
          <p:nvPr/>
        </p:nvSpPr>
        <p:spPr>
          <a:xfrm>
            <a:off x="2478024" y="4590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11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Royce descreve a cascata</a:t>
            </a:r>
            <a:endParaRPr lang="pt-BR" sz="1100" noProof="1"/>
          </a:p>
        </p:txBody>
      </p:sp>
      <p:sp>
        <p:nvSpPr>
          <p:cNvPr id="17" name="Text 15"/>
          <p:cNvSpPr txBox="1"/>
          <p:nvPr/>
        </p:nvSpPr>
        <p:spPr>
          <a:xfrm>
            <a:off x="2478024" y="5029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9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mesmo artigo, ele já alerta que o modelo puro é arriscado.</a:t>
            </a:r>
            <a:endParaRPr lang="pt-BR" sz="950" noProof="1"/>
          </a:p>
        </p:txBody>
      </p:sp>
      <p:sp>
        <p:nvSpPr>
          <p:cNvPr id="18" name="Shape 16"/>
          <p:cNvSpPr/>
          <p:nvPr/>
        </p:nvSpPr>
        <p:spPr>
          <a:xfrm>
            <a:off x="3172968" y="3858768"/>
            <a:ext cx="36576" cy="274320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9" name="Shape 17"/>
          <p:cNvSpPr/>
          <p:nvPr/>
        </p:nvSpPr>
        <p:spPr>
          <a:xfrm>
            <a:off x="4928616" y="3703320"/>
            <a:ext cx="201168" cy="201168"/>
          </a:xfrm>
          <a:prstGeom prst="ellipse">
            <a:avLst/>
          </a:prstGeom>
          <a:solidFill>
            <a:srgbClr val="F4695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0" name="Shape 18"/>
          <p:cNvSpPr/>
          <p:nvPr/>
        </p:nvSpPr>
        <p:spPr>
          <a:xfrm>
            <a:off x="4206240" y="205740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21" name="Text 19"/>
          <p:cNvSpPr txBox="1"/>
          <p:nvPr/>
        </p:nvSpPr>
        <p:spPr>
          <a:xfrm>
            <a:off x="4315968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F4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1988</a:t>
            </a:r>
            <a:endParaRPr lang="pt-BR" sz="1500" noProof="1"/>
          </a:p>
        </p:txBody>
      </p:sp>
      <p:sp>
        <p:nvSpPr>
          <p:cNvPr id="22" name="Text 20"/>
          <p:cNvSpPr txBox="1"/>
          <p:nvPr/>
        </p:nvSpPr>
        <p:spPr>
          <a:xfrm>
            <a:off x="4315968" y="2487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11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espiral (Boehm)</a:t>
            </a:r>
            <a:endParaRPr lang="pt-BR" sz="1100" noProof="1"/>
          </a:p>
        </p:txBody>
      </p:sp>
      <p:sp>
        <p:nvSpPr>
          <p:cNvPr id="23" name="Text 21"/>
          <p:cNvSpPr txBox="1"/>
          <p:nvPr/>
        </p:nvSpPr>
        <p:spPr>
          <a:xfrm>
            <a:off x="4315968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9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volta avalia riscos antes de seguir.</a:t>
            </a:r>
            <a:endParaRPr lang="pt-BR" sz="950" noProof="1"/>
          </a:p>
        </p:txBody>
      </p:sp>
      <p:sp>
        <p:nvSpPr>
          <p:cNvPr id="24" name="Shape 22"/>
          <p:cNvSpPr/>
          <p:nvPr/>
        </p:nvSpPr>
        <p:spPr>
          <a:xfrm>
            <a:off x="5010912" y="3474720"/>
            <a:ext cx="36576" cy="274320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5" name="Shape 23"/>
          <p:cNvSpPr/>
          <p:nvPr/>
        </p:nvSpPr>
        <p:spPr>
          <a:xfrm>
            <a:off x="6766560" y="3703320"/>
            <a:ext cx="201168" cy="201168"/>
          </a:xfrm>
          <a:prstGeom prst="ellipse">
            <a:avLst/>
          </a:prstGeom>
          <a:solidFill>
            <a:srgbClr val="22306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6" name="Shape 24"/>
          <p:cNvSpPr/>
          <p:nvPr/>
        </p:nvSpPr>
        <p:spPr>
          <a:xfrm>
            <a:off x="6044184" y="41605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27" name="Text 25"/>
          <p:cNvSpPr txBox="1"/>
          <p:nvPr/>
        </p:nvSpPr>
        <p:spPr>
          <a:xfrm>
            <a:off x="6153912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1995</a:t>
            </a:r>
            <a:endParaRPr lang="pt-BR" sz="1500" noProof="1"/>
          </a:p>
        </p:txBody>
      </p:sp>
      <p:sp>
        <p:nvSpPr>
          <p:cNvPr id="28" name="Text 26"/>
          <p:cNvSpPr txBox="1"/>
          <p:nvPr/>
        </p:nvSpPr>
        <p:spPr>
          <a:xfrm>
            <a:off x="6153912" y="4590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11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é apresentado</a:t>
            </a:r>
            <a:endParaRPr lang="pt-BR" sz="1100" noProof="1"/>
          </a:p>
        </p:txBody>
      </p:sp>
      <p:sp>
        <p:nvSpPr>
          <p:cNvPr id="29" name="Text 27"/>
          <p:cNvSpPr txBox="1"/>
          <p:nvPr/>
        </p:nvSpPr>
        <p:spPr>
          <a:xfrm>
            <a:off x="6153912" y="5029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9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Sprints, papéis e ritos ganham nome.</a:t>
            </a:r>
            <a:endParaRPr lang="pt-BR" sz="950" noProof="1"/>
          </a:p>
        </p:txBody>
      </p:sp>
      <p:sp>
        <p:nvSpPr>
          <p:cNvPr id="30" name="Shape 28"/>
          <p:cNvSpPr/>
          <p:nvPr/>
        </p:nvSpPr>
        <p:spPr>
          <a:xfrm>
            <a:off x="6848856" y="3858768"/>
            <a:ext cx="36576" cy="274320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1" name="Shape 29"/>
          <p:cNvSpPr/>
          <p:nvPr/>
        </p:nvSpPr>
        <p:spPr>
          <a:xfrm>
            <a:off x="8604504" y="3703320"/>
            <a:ext cx="201168" cy="201168"/>
          </a:xfrm>
          <a:prstGeom prst="ellipse">
            <a:avLst/>
          </a:prstGeom>
          <a:solidFill>
            <a:srgbClr val="F4695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2" name="Shape 30"/>
          <p:cNvSpPr/>
          <p:nvPr/>
        </p:nvSpPr>
        <p:spPr>
          <a:xfrm>
            <a:off x="7882128" y="205740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33" name="Text 31"/>
          <p:cNvSpPr txBox="1"/>
          <p:nvPr/>
        </p:nvSpPr>
        <p:spPr>
          <a:xfrm>
            <a:off x="7991856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F4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2001</a:t>
            </a:r>
            <a:endParaRPr lang="pt-BR" sz="1500" noProof="1"/>
          </a:p>
        </p:txBody>
      </p:sp>
      <p:sp>
        <p:nvSpPr>
          <p:cNvPr id="34" name="Text 32"/>
          <p:cNvSpPr txBox="1"/>
          <p:nvPr/>
        </p:nvSpPr>
        <p:spPr>
          <a:xfrm>
            <a:off x="7991856" y="2487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11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 Ágil</a:t>
            </a:r>
            <a:endParaRPr lang="pt-BR" sz="1100" noProof="1"/>
          </a:p>
        </p:txBody>
      </p:sp>
      <p:sp>
        <p:nvSpPr>
          <p:cNvPr id="35" name="Text 33"/>
          <p:cNvSpPr txBox="1"/>
          <p:nvPr/>
        </p:nvSpPr>
        <p:spPr>
          <a:xfrm>
            <a:off x="7991856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9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pessoas assinam os 4 valores e 12 princípios.</a:t>
            </a:r>
            <a:endParaRPr lang="pt-BR" sz="950" noProof="1"/>
          </a:p>
        </p:txBody>
      </p:sp>
      <p:sp>
        <p:nvSpPr>
          <p:cNvPr id="36" name="Shape 34"/>
          <p:cNvSpPr/>
          <p:nvPr/>
        </p:nvSpPr>
        <p:spPr>
          <a:xfrm>
            <a:off x="8686800" y="3474720"/>
            <a:ext cx="36576" cy="274320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7" name="Shape 35"/>
          <p:cNvSpPr/>
          <p:nvPr/>
        </p:nvSpPr>
        <p:spPr>
          <a:xfrm>
            <a:off x="10442448" y="3703320"/>
            <a:ext cx="201168" cy="201168"/>
          </a:xfrm>
          <a:prstGeom prst="ellipse">
            <a:avLst/>
          </a:prstGeom>
          <a:solidFill>
            <a:srgbClr val="22306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8" name="Shape 36"/>
          <p:cNvSpPr/>
          <p:nvPr/>
        </p:nvSpPr>
        <p:spPr>
          <a:xfrm>
            <a:off x="9720072" y="41605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39" name="Text 37"/>
          <p:cNvSpPr txBox="1"/>
          <p:nvPr/>
        </p:nvSpPr>
        <p:spPr>
          <a:xfrm>
            <a:off x="982980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</a:t>
            </a:r>
            <a:endParaRPr lang="pt-BR" sz="1500" noProof="1"/>
          </a:p>
        </p:txBody>
      </p:sp>
      <p:sp>
        <p:nvSpPr>
          <p:cNvPr id="40" name="Text 38"/>
          <p:cNvSpPr txBox="1"/>
          <p:nvPr/>
        </p:nvSpPr>
        <p:spPr>
          <a:xfrm>
            <a:off x="9829800" y="4590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11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do mercado</a:t>
            </a:r>
            <a:endParaRPr lang="pt-BR" sz="1100" noProof="1"/>
          </a:p>
        </p:txBody>
      </p:sp>
      <p:sp>
        <p:nvSpPr>
          <p:cNvPr id="41" name="Text 39"/>
          <p:cNvSpPr txBox="1"/>
          <p:nvPr/>
        </p:nvSpPr>
        <p:spPr>
          <a:xfrm>
            <a:off x="9829800" y="5029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9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contínua em ciclos de dias.</a:t>
            </a:r>
            <a:endParaRPr lang="pt-BR" sz="950" noProof="1"/>
          </a:p>
        </p:txBody>
      </p:sp>
      <p:sp>
        <p:nvSpPr>
          <p:cNvPr id="42" name="Shape 40"/>
          <p:cNvSpPr/>
          <p:nvPr/>
        </p:nvSpPr>
        <p:spPr>
          <a:xfrm>
            <a:off x="10524744" y="3858768"/>
            <a:ext cx="36576" cy="274320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43" name="Text 41"/>
          <p:cNvSpPr txBox="1"/>
          <p:nvPr/>
        </p:nvSpPr>
        <p:spPr>
          <a:xfrm>
            <a:off x="685800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i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Larman &amp; Basili (2003) documentam projetos iterativos desde os anos 1950 — a ideia é mais velha que a cascata como prática dominante.</a:t>
            </a:r>
            <a:endParaRPr lang="pt-BR" sz="1150" noProof="1"/>
          </a:p>
        </p:txBody>
      </p:sp>
      <p:sp>
        <p:nvSpPr>
          <p:cNvPr id="44" name="Text 42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FUNDAÇÕES E EVOLUÇÃO</a:t>
            </a:r>
            <a:endParaRPr lang="pt-BR" sz="900" noProof="1"/>
          </a:p>
        </p:txBody>
      </p:sp>
      <p:sp>
        <p:nvSpPr>
          <p:cNvPr id="45" name="Text 43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FUNDAÇÕES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Iterativo: dar voltas para melhorar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9677095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9677095" y="868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</a:t>
            </a:r>
            <a:endParaRPr lang="pt-BR" sz="1100" noProof="1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3291840" cy="3291840"/>
          </a:xfrm>
          <a:prstGeom prst="donut">
            <a:avLst/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7" name="Shape 5"/>
          <p:cNvSpPr/>
          <p:nvPr/>
        </p:nvSpPr>
        <p:spPr>
          <a:xfrm>
            <a:off x="2103120" y="1554480"/>
            <a:ext cx="1097280" cy="1097280"/>
          </a:xfrm>
          <a:prstGeom prst="ellipse">
            <a:avLst/>
          </a:prstGeom>
          <a:solidFill>
            <a:srgbClr val="22306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8" name="Text 6"/>
          <p:cNvSpPr txBox="1"/>
          <p:nvPr/>
        </p:nvSpPr>
        <p:spPr>
          <a:xfrm>
            <a:off x="2103120" y="19568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</a:t>
            </a:r>
            <a:endParaRPr lang="pt-BR" sz="1200" noProof="1"/>
          </a:p>
        </p:txBody>
      </p:sp>
      <p:sp>
        <p:nvSpPr>
          <p:cNvPr id="9" name="Shape 7"/>
          <p:cNvSpPr/>
          <p:nvPr/>
        </p:nvSpPr>
        <p:spPr>
          <a:xfrm>
            <a:off x="3749040" y="3200400"/>
            <a:ext cx="1097280" cy="1097280"/>
          </a:xfrm>
          <a:prstGeom prst="ellipse">
            <a:avLst/>
          </a:prstGeom>
          <a:solidFill>
            <a:srgbClr val="3D4C9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0" name="Text 8"/>
          <p:cNvSpPr txBox="1"/>
          <p:nvPr/>
        </p:nvSpPr>
        <p:spPr>
          <a:xfrm>
            <a:off x="3749040" y="36027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</a:t>
            </a:r>
            <a:endParaRPr lang="pt-BR" sz="1200" noProof="1"/>
          </a:p>
        </p:txBody>
      </p:sp>
      <p:sp>
        <p:nvSpPr>
          <p:cNvPr id="11" name="Shape 9"/>
          <p:cNvSpPr/>
          <p:nvPr/>
        </p:nvSpPr>
        <p:spPr>
          <a:xfrm>
            <a:off x="2103120" y="4846320"/>
            <a:ext cx="1097280" cy="1097280"/>
          </a:xfrm>
          <a:prstGeom prst="ellipse">
            <a:avLst/>
          </a:prstGeom>
          <a:solidFill>
            <a:srgbClr val="22306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2" name="Text 10"/>
          <p:cNvSpPr txBox="1"/>
          <p:nvPr/>
        </p:nvSpPr>
        <p:spPr>
          <a:xfrm>
            <a:off x="2103120" y="52486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</a:t>
            </a:r>
            <a:endParaRPr lang="pt-BR" sz="1200" noProof="1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097280" cy="1097280"/>
          </a:xfrm>
          <a:prstGeom prst="ellipse">
            <a:avLst/>
          </a:prstGeom>
          <a:solidFill>
            <a:srgbClr val="3D4C9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4" name="Text 12"/>
          <p:cNvSpPr txBox="1"/>
          <p:nvPr/>
        </p:nvSpPr>
        <p:spPr>
          <a:xfrm>
            <a:off x="457200" y="36027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endParaRPr lang="pt-BR" sz="1200" noProof="1"/>
          </a:p>
        </p:txBody>
      </p:sp>
      <p:sp>
        <p:nvSpPr>
          <p:cNvPr id="15" name="Text 13"/>
          <p:cNvSpPr txBox="1"/>
          <p:nvPr/>
        </p:nvSpPr>
        <p:spPr>
          <a:xfrm>
            <a:off x="196596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i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 novo</a:t>
            </a:r>
            <a:endParaRPr lang="pt-BR" sz="1100" noProof="1"/>
          </a:p>
        </p:txBody>
      </p:sp>
      <p:sp>
        <p:nvSpPr>
          <p:cNvPr id="16" name="Shape 14"/>
          <p:cNvSpPr/>
          <p:nvPr/>
        </p:nvSpPr>
        <p:spPr>
          <a:xfrm>
            <a:off x="4937760" y="1828800"/>
            <a:ext cx="6583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7" name="Text 15"/>
          <p:cNvSpPr txBox="1"/>
          <p:nvPr/>
        </p:nvSpPr>
        <p:spPr>
          <a:xfrm>
            <a:off x="5257800" y="20848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iteração é uma volta completa do ciclo.</a:t>
            </a:r>
            <a:endParaRPr lang="pt-BR" sz="1700" noProof="1"/>
          </a:p>
        </p:txBody>
      </p:sp>
      <p:sp>
        <p:nvSpPr>
          <p:cNvPr id="18" name="Text 16"/>
          <p:cNvSpPr txBox="1"/>
          <p:nvPr/>
        </p:nvSpPr>
        <p:spPr>
          <a:xfrm>
            <a:off x="5257800" y="245059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3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continua sendo o mesmo e o que muda é a qualidade dele. A cada volta você refina o que já existe com base no que aprendeu.</a:t>
            </a:r>
            <a:endParaRPr lang="pt-BR" sz="1300" noProof="1"/>
          </a:p>
        </p:txBody>
      </p:sp>
      <p:sp>
        <p:nvSpPr>
          <p:cNvPr id="19" name="Shape 17"/>
          <p:cNvSpPr/>
          <p:nvPr/>
        </p:nvSpPr>
        <p:spPr>
          <a:xfrm>
            <a:off x="4937760" y="3474720"/>
            <a:ext cx="6583680" cy="2286000"/>
          </a:xfrm>
          <a:prstGeom prst="roundRect">
            <a:avLst>
              <a:gd name="adj" fmla="val 4800"/>
            </a:avLst>
          </a:prstGeom>
          <a:solidFill>
            <a:srgbClr val="FDF3DD"/>
          </a:solidFill>
          <a:ln w="12700">
            <a:solidFill>
              <a:srgbClr val="FDF3DD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0" name="Shape 18"/>
          <p:cNvSpPr/>
          <p:nvPr/>
        </p:nvSpPr>
        <p:spPr>
          <a:xfrm>
            <a:off x="5257800" y="3703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3831336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852160" y="37764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 a dia de vocês</a:t>
            </a:r>
            <a:endParaRPr lang="pt-BR" sz="1400" noProof="1"/>
          </a:p>
        </p:txBody>
      </p:sp>
      <p:sp>
        <p:nvSpPr>
          <p:cNvPr id="23" name="Text 20"/>
          <p:cNvSpPr txBox="1"/>
          <p:nvPr/>
        </p:nvSpPr>
        <p:spPr>
          <a:xfrm>
            <a:off x="5257800" y="4251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3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escreve a redação, o professor lê e devolve, você reescreve o mesmo texto melhor. É o mesmo texto, na terceira volta ele está bom.</a:t>
            </a:r>
            <a:endParaRPr lang="pt-BR" sz="1300" noProof="1"/>
          </a:p>
        </p:txBody>
      </p:sp>
      <p:sp>
        <p:nvSpPr>
          <p:cNvPr id="24" name="Text 21"/>
          <p:cNvSpPr txBox="1"/>
          <p:nvPr/>
        </p:nvSpPr>
        <p:spPr>
          <a:xfrm>
            <a:off x="5257800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i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volta, você só descobre o erro na nota final.</a:t>
            </a:r>
            <a:endParaRPr lang="pt-BR" sz="1250" noProof="1"/>
          </a:p>
        </p:txBody>
      </p:sp>
      <p:sp>
        <p:nvSpPr>
          <p:cNvPr id="25" name="Text 22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FUNDAÇÕES E EVOLUÇÃO</a:t>
            </a:r>
            <a:endParaRPr lang="pt-BR" sz="900" noProof="1"/>
          </a:p>
        </p:txBody>
      </p:sp>
      <p:sp>
        <p:nvSpPr>
          <p:cNvPr id="26" name="Text 23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cs typeface="Calibri" pitchFamily="34" charset="-120"/>
              </a:rPr>
              <a:t>O QUE É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Incremental: entregar aos pedaços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9677095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9677095" y="868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</a:t>
            </a:r>
            <a:endParaRPr lang="pt-BR" sz="1100" noProof="1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entrega funciona sozinha e já tem valor. Nada fica “meio pronto” esperando o final.</a:t>
            </a:r>
            <a:endParaRPr lang="pt-BR" sz="1400" noProof="1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pt-BR" sz="1300" noProof="1"/>
          </a:p>
        </p:txBody>
      </p:sp>
      <p:sp>
        <p:nvSpPr>
          <p:cNvPr id="9" name="Shape 7"/>
          <p:cNvSpPr/>
          <p:nvPr/>
        </p:nvSpPr>
        <p:spPr>
          <a:xfrm>
            <a:off x="1257300" y="420624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E8F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0" name="Shape 8"/>
          <p:cNvSpPr/>
          <p:nvPr/>
        </p:nvSpPr>
        <p:spPr>
          <a:xfrm>
            <a:off x="1257300" y="373075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1" name="Shape 9"/>
          <p:cNvSpPr/>
          <p:nvPr/>
        </p:nvSpPr>
        <p:spPr>
          <a:xfrm>
            <a:off x="1257300" y="3255264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2" name="Shape 10"/>
          <p:cNvSpPr/>
          <p:nvPr/>
        </p:nvSpPr>
        <p:spPr>
          <a:xfrm>
            <a:off x="1257300" y="277977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3" name="Text 11"/>
          <p:cNvSpPr txBox="1"/>
          <p:nvPr/>
        </p:nvSpPr>
        <p:spPr>
          <a:xfrm>
            <a:off x="868680" y="4736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pt-BR" sz="11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 tema definidos</a:t>
            </a:r>
            <a:endParaRPr lang="pt-BR" sz="1150" noProof="1"/>
          </a:p>
        </p:txBody>
      </p:sp>
      <p:sp>
        <p:nvSpPr>
          <p:cNvPr id="14" name="Shape 12"/>
          <p:cNvSpPr/>
          <p:nvPr/>
        </p:nvSpPr>
        <p:spPr>
          <a:xfrm>
            <a:off x="3264408" y="3566160"/>
            <a:ext cx="219456" cy="182880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5" name="Shape 13"/>
          <p:cNvSpPr/>
          <p:nvPr/>
        </p:nvSpPr>
        <p:spPr>
          <a:xfrm>
            <a:off x="3474720" y="214884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6" name="Text 14"/>
          <p:cNvSpPr txBox="1"/>
          <p:nvPr/>
        </p:nvSpPr>
        <p:spPr>
          <a:xfrm>
            <a:off x="365760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pt-BR" sz="1300" noProof="1"/>
          </a:p>
        </p:txBody>
      </p:sp>
      <p:sp>
        <p:nvSpPr>
          <p:cNvPr id="17" name="Shape 15"/>
          <p:cNvSpPr/>
          <p:nvPr/>
        </p:nvSpPr>
        <p:spPr>
          <a:xfrm>
            <a:off x="4046220" y="420624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23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8" name="Shape 16"/>
          <p:cNvSpPr/>
          <p:nvPr/>
        </p:nvSpPr>
        <p:spPr>
          <a:xfrm>
            <a:off x="4046220" y="373075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E8F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9" name="Shape 17"/>
          <p:cNvSpPr/>
          <p:nvPr/>
        </p:nvSpPr>
        <p:spPr>
          <a:xfrm>
            <a:off x="4046220" y="3255264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0" name="Shape 18"/>
          <p:cNvSpPr/>
          <p:nvPr/>
        </p:nvSpPr>
        <p:spPr>
          <a:xfrm>
            <a:off x="4046220" y="277977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1" name="Text 19"/>
          <p:cNvSpPr txBox="1"/>
          <p:nvPr/>
        </p:nvSpPr>
        <p:spPr>
          <a:xfrm>
            <a:off x="3657600" y="4736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pt-BR" sz="11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escrita</a:t>
            </a:r>
            <a:endParaRPr lang="pt-BR" sz="1150" noProof="1"/>
          </a:p>
        </p:txBody>
      </p:sp>
      <p:sp>
        <p:nvSpPr>
          <p:cNvPr id="22" name="Shape 20"/>
          <p:cNvSpPr/>
          <p:nvPr/>
        </p:nvSpPr>
        <p:spPr>
          <a:xfrm>
            <a:off x="6053328" y="3566160"/>
            <a:ext cx="219456" cy="182880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3" name="Shape 21"/>
          <p:cNvSpPr/>
          <p:nvPr/>
        </p:nvSpPr>
        <p:spPr>
          <a:xfrm>
            <a:off x="6263640" y="214884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24" name="Text 22"/>
          <p:cNvSpPr txBox="1"/>
          <p:nvPr/>
        </p:nvSpPr>
        <p:spPr>
          <a:xfrm>
            <a:off x="644652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pt-BR" sz="1300" noProof="1"/>
          </a:p>
        </p:txBody>
      </p:sp>
      <p:sp>
        <p:nvSpPr>
          <p:cNvPr id="25" name="Shape 23"/>
          <p:cNvSpPr/>
          <p:nvPr/>
        </p:nvSpPr>
        <p:spPr>
          <a:xfrm>
            <a:off x="6835140" y="420624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23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6" name="Shape 24"/>
          <p:cNvSpPr/>
          <p:nvPr/>
        </p:nvSpPr>
        <p:spPr>
          <a:xfrm>
            <a:off x="6835140" y="373075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23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7" name="Shape 25"/>
          <p:cNvSpPr/>
          <p:nvPr/>
        </p:nvSpPr>
        <p:spPr>
          <a:xfrm>
            <a:off x="6835140" y="3255264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E8F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8" name="Shape 26"/>
          <p:cNvSpPr/>
          <p:nvPr/>
        </p:nvSpPr>
        <p:spPr>
          <a:xfrm>
            <a:off x="6835140" y="277977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9" name="Text 27"/>
          <p:cNvSpPr txBox="1"/>
          <p:nvPr/>
        </p:nvSpPr>
        <p:spPr>
          <a:xfrm>
            <a:off x="6446520" y="4736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pt-BR" sz="11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pronto</a:t>
            </a:r>
            <a:endParaRPr lang="pt-BR" sz="1150" noProof="1"/>
          </a:p>
        </p:txBody>
      </p:sp>
      <p:sp>
        <p:nvSpPr>
          <p:cNvPr id="30" name="Shape 28"/>
          <p:cNvSpPr/>
          <p:nvPr/>
        </p:nvSpPr>
        <p:spPr>
          <a:xfrm>
            <a:off x="8842248" y="3566160"/>
            <a:ext cx="219456" cy="182880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1" name="Shape 29"/>
          <p:cNvSpPr/>
          <p:nvPr/>
        </p:nvSpPr>
        <p:spPr>
          <a:xfrm>
            <a:off x="9052560" y="214884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32" name="Text 30"/>
          <p:cNvSpPr txBox="1"/>
          <p:nvPr/>
        </p:nvSpPr>
        <p:spPr>
          <a:xfrm>
            <a:off x="923544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pt-BR" sz="1300" noProof="1"/>
          </a:p>
        </p:txBody>
      </p:sp>
      <p:sp>
        <p:nvSpPr>
          <p:cNvPr id="33" name="Shape 31"/>
          <p:cNvSpPr/>
          <p:nvPr/>
        </p:nvSpPr>
        <p:spPr>
          <a:xfrm>
            <a:off x="9624060" y="420624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23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4" name="Shape 32"/>
          <p:cNvSpPr/>
          <p:nvPr/>
        </p:nvSpPr>
        <p:spPr>
          <a:xfrm>
            <a:off x="9624060" y="373075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23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5" name="Shape 33"/>
          <p:cNvSpPr/>
          <p:nvPr/>
        </p:nvSpPr>
        <p:spPr>
          <a:xfrm>
            <a:off x="9624060" y="3255264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23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6" name="Shape 34"/>
          <p:cNvSpPr/>
          <p:nvPr/>
        </p:nvSpPr>
        <p:spPr>
          <a:xfrm>
            <a:off x="9624060" y="277977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E8F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7" name="Text 35"/>
          <p:cNvSpPr txBox="1"/>
          <p:nvPr/>
        </p:nvSpPr>
        <p:spPr>
          <a:xfrm>
            <a:off x="9235440" y="4736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pt-BR" sz="11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revisão</a:t>
            </a:r>
            <a:endParaRPr lang="pt-BR" sz="1150" noProof="1"/>
          </a:p>
        </p:txBody>
      </p:sp>
      <p:sp>
        <p:nvSpPr>
          <p:cNvPr id="38" name="Shape 36"/>
          <p:cNvSpPr/>
          <p:nvPr/>
        </p:nvSpPr>
        <p:spPr>
          <a:xfrm>
            <a:off x="685800" y="5394960"/>
            <a:ext cx="10820095" cy="658368"/>
          </a:xfrm>
          <a:prstGeom prst="roundRect">
            <a:avLst>
              <a:gd name="adj" fmla="val 16667"/>
            </a:avLst>
          </a:prstGeom>
          <a:solidFill>
            <a:srgbClr val="E3F4EE"/>
          </a:solidFill>
          <a:ln w="12700">
            <a:solidFill>
              <a:srgbClr val="E3F4EE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9" name="Shape 37"/>
          <p:cNvSpPr/>
          <p:nvPr/>
        </p:nvSpPr>
        <p:spPr>
          <a:xfrm>
            <a:off x="868680" y="554126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5643677"/>
            <a:ext cx="160934" cy="160934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371600" y="56327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semana existe uma versão do trabalho que pode ser entregue. Ela é menor, mas está inteira.</a:t>
            </a:r>
            <a:endParaRPr lang="pt-BR" sz="1300" noProof="1"/>
          </a:p>
        </p:txBody>
      </p:sp>
      <p:sp>
        <p:nvSpPr>
          <p:cNvPr id="42" name="Text 39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FUNDAÇÕES E EVOLUÇÃO</a:t>
            </a:r>
            <a:endParaRPr lang="pt-BR" sz="900" noProof="1"/>
          </a:p>
        </p:txBody>
      </p:sp>
      <p:sp>
        <p:nvSpPr>
          <p:cNvPr id="43" name="Text 40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Juntos: como isso funciona de verdade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77095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677095" y="868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62940" y="1403604"/>
            <a:ext cx="106372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precisa chegar mais rápido no trabalho. Em vez de sumir por quatro </a:t>
            </a:r>
            <a:r>
              <a:rPr lang="en-US" sz="1400" dirty="0" err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</a:t>
            </a:r>
            <a:r>
              <a:rPr lang="en-US" sz="1400" dirty="0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voltar com um </a:t>
            </a:r>
            <a:r>
              <a:rPr lang="en-US" sz="1400" dirty="0" err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</a:t>
            </a:r>
            <a:r>
              <a:rPr lang="en-US" sz="1400" dirty="0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400" dirty="0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cascata</a:t>
            </a:r>
            <a:r>
              <a:rPr lang="en-US" sz="1400" dirty="0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você entrega assim: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237744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645920" y="2606040"/>
            <a:ext cx="914400" cy="914400"/>
          </a:xfrm>
          <a:prstGeom prst="ellipse">
            <a:avLst/>
          </a:prstGeom>
          <a:solidFill>
            <a:srgbClr val="22306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286207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Patins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12253" y="3200400"/>
            <a:ext cx="274320" cy="219456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520440" y="237744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114800" y="2606040"/>
            <a:ext cx="914400" cy="914400"/>
          </a:xfrm>
          <a:prstGeom prst="ellipse">
            <a:avLst/>
          </a:prstGeom>
          <a:solidFill>
            <a:srgbClr val="22306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86207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2044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Bicicleta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520440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669844" y="3200400"/>
            <a:ext cx="274320" cy="219456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5989320" y="237744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6583680" y="2606040"/>
            <a:ext cx="914400" cy="914400"/>
          </a:xfrm>
          <a:prstGeom prst="ellipse">
            <a:avLst/>
          </a:prstGeom>
          <a:solidFill>
            <a:srgbClr val="22306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286207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98932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989320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150013" y="3200400"/>
            <a:ext cx="274320" cy="219456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8458200" y="237744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1"/>
          <p:cNvSpPr/>
          <p:nvPr/>
        </p:nvSpPr>
        <p:spPr>
          <a:xfrm>
            <a:off x="9052560" y="2606040"/>
            <a:ext cx="914400" cy="914400"/>
          </a:xfrm>
          <a:prstGeom prst="ellipse">
            <a:avLst/>
          </a:prstGeom>
          <a:solidFill>
            <a:srgbClr val="1E8F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2" y="286207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45820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Carro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8458200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1051560" y="2011680"/>
            <a:ext cx="9738360" cy="219456"/>
          </a:xfrm>
          <a:prstGeom prst="rightArrow">
            <a:avLst/>
          </a:prstGeom>
          <a:solidFill>
            <a:srgbClr val="1E8F6E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6"/>
          <p:cNvSpPr txBox="1"/>
          <p:nvPr/>
        </p:nvSpPr>
        <p:spPr>
          <a:xfrm>
            <a:off x="3381925" y="1797501"/>
            <a:ext cx="5074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INCREMENTO: em toda etapa sai algo que já leva a pessoa ao trabalho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1051560" y="4434840"/>
            <a:ext cx="9738360" cy="219456"/>
          </a:xfrm>
          <a:prstGeom prst="rightArrow">
            <a:avLst/>
          </a:prstGeom>
          <a:solidFill>
            <a:srgbClr val="F4695F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29"/>
          <p:cNvSpPr txBox="1"/>
          <p:nvPr/>
        </p:nvSpPr>
        <p:spPr>
          <a:xfrm>
            <a:off x="1051559" y="4590288"/>
            <a:ext cx="960515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ITERAÇÃO: cada etapa usa o que se aprendeu na anterior e melhora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85800" y="5029200"/>
            <a:ext cx="10820095" cy="1051560"/>
          </a:xfrm>
          <a:prstGeom prst="roundRect">
            <a:avLst>
              <a:gd name="adj" fmla="val 10435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1"/>
          <p:cNvSpPr txBox="1"/>
          <p:nvPr/>
        </p:nvSpPr>
        <p:spPr>
          <a:xfrm>
            <a:off x="1005840" y="52303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Incremento</a:t>
            </a:r>
            <a:r>
              <a:rPr lang="en-US" sz="1600" b="1" dirty="0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garante que alguma coisa fique pronta. </a:t>
            </a:r>
            <a:r>
              <a:rPr lang="en-US" sz="1600" b="1" dirty="0" err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Iteração</a:t>
            </a:r>
            <a:r>
              <a:rPr lang="en-US" sz="1600" b="1" dirty="0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garante</a:t>
            </a:r>
            <a:r>
              <a:rPr lang="en-US" sz="1600" b="1" dirty="0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que ela fique boa.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05840" y="5596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 primeira semana a pessoa já está resolvendo o </a:t>
            </a:r>
            <a:r>
              <a:rPr lang="en-US" sz="1300" dirty="0" err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dela e a cada semana resolve melhor.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 QUE É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3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05840"/>
            <a:ext cx="4754880" cy="4754880"/>
          </a:xfrm>
          <a:prstGeom prst="donut">
            <a:avLst/>
          </a:prstGeom>
          <a:solidFill>
            <a:srgbClr val="3D4C92">
              <a:alpha val="40000"/>
            </a:srgbClr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" name="Shape 1"/>
          <p:cNvSpPr/>
          <p:nvPr/>
        </p:nvSpPr>
        <p:spPr>
          <a:xfrm>
            <a:off x="9966960" y="2377440"/>
            <a:ext cx="2011680" cy="2011680"/>
          </a:xfrm>
          <a:prstGeom prst="ellipse">
            <a:avLst/>
          </a:prstGeom>
          <a:solidFill>
            <a:srgbClr val="17204A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0" y="2940710"/>
            <a:ext cx="885139" cy="8851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6800" b="1" noProof="1">
                <a:solidFill>
                  <a:srgbClr val="3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pt-BR" sz="6800" noProof="1"/>
          </a:p>
        </p:txBody>
      </p:sp>
      <p:sp>
        <p:nvSpPr>
          <p:cNvPr id="6" name="Text 3"/>
          <p:cNvSpPr txBox="1"/>
          <p:nvPr/>
        </p:nvSpPr>
        <p:spPr>
          <a:xfrm>
            <a:off x="685800" y="2514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3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Mecânica prática</a:t>
            </a:r>
            <a:endParaRPr lang="pt-BR" sz="3800" noProof="1"/>
          </a:p>
        </p:txBody>
      </p:sp>
      <p:sp>
        <p:nvSpPr>
          <p:cNvPr id="7" name="Shape 4"/>
          <p:cNvSpPr/>
          <p:nvPr/>
        </p:nvSpPr>
        <p:spPr>
          <a:xfrm>
            <a:off x="685800" y="3794760"/>
            <a:ext cx="1097280" cy="45720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8" name="Shape 5"/>
          <p:cNvSpPr/>
          <p:nvPr/>
        </p:nvSpPr>
        <p:spPr>
          <a:xfrm>
            <a:off x="685800" y="4206240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9" name="Text 6"/>
          <p:cNvSpPr txBox="1"/>
          <p:nvPr/>
        </p:nvSpPr>
        <p:spPr>
          <a:xfrm>
            <a:off x="941832" y="41148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1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sprint por dentro, do backlog ao incremento</a:t>
            </a:r>
            <a:endParaRPr lang="pt-BR" sz="1400" noProof="1"/>
          </a:p>
        </p:txBody>
      </p:sp>
      <p:sp>
        <p:nvSpPr>
          <p:cNvPr id="10" name="Shape 7"/>
          <p:cNvSpPr/>
          <p:nvPr/>
        </p:nvSpPr>
        <p:spPr>
          <a:xfrm>
            <a:off x="685800" y="4626864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1" name="Text 8"/>
          <p:cNvSpPr txBox="1"/>
          <p:nvPr/>
        </p:nvSpPr>
        <p:spPr>
          <a:xfrm>
            <a:off x="941832" y="453542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1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cerimônias e para que servem</a:t>
            </a:r>
            <a:endParaRPr lang="pt-BR" sz="1400" noProof="1"/>
          </a:p>
        </p:txBody>
      </p:sp>
      <p:sp>
        <p:nvSpPr>
          <p:cNvPr id="12" name="Shape 9"/>
          <p:cNvSpPr/>
          <p:nvPr/>
        </p:nvSpPr>
        <p:spPr>
          <a:xfrm>
            <a:off x="685800" y="5047488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3" name="Text 10"/>
          <p:cNvSpPr txBox="1"/>
          <p:nvPr/>
        </p:nvSpPr>
        <p:spPr>
          <a:xfrm>
            <a:off x="941832" y="49560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1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Kanban e burndown na prática</a:t>
            </a:r>
            <a:endParaRPr lang="pt-BR" sz="1400" noProof="1"/>
          </a:p>
        </p:txBody>
      </p:sp>
      <p:sp>
        <p:nvSpPr>
          <p:cNvPr id="14" name="Text 11"/>
          <p:cNvSpPr txBox="1"/>
          <p:nvPr/>
        </p:nvSpPr>
        <p:spPr>
          <a:xfrm>
            <a:off x="68580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</a:t>
            </a:r>
            <a:endParaRPr lang="pt-BR" sz="15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MECÂNICA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sprint, do começo ao fim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9677095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9677095" y="868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</a:t>
            </a:r>
            <a:endParaRPr lang="pt-BR" sz="1100" noProof="1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7" name="Shape 5"/>
          <p:cNvSpPr/>
          <p:nvPr/>
        </p:nvSpPr>
        <p:spPr>
          <a:xfrm>
            <a:off x="1325880" y="2606040"/>
            <a:ext cx="548640" cy="548640"/>
          </a:xfrm>
          <a:prstGeom prst="ellipse">
            <a:avLst/>
          </a:prstGeom>
          <a:solidFill>
            <a:srgbClr val="22306B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499" y="275965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pt-BR" sz="1250" noProof="1"/>
          </a:p>
          <a:p>
            <a:pPr marL="0" indent="0" algn="ctr">
              <a:lnSpc>
                <a:spcPct val="95000"/>
              </a:lnSpc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pt-BR" sz="1250" noProof="1"/>
          </a:p>
        </p:txBody>
      </p:sp>
      <p:sp>
        <p:nvSpPr>
          <p:cNvPr id="10" name="Text 7"/>
          <p:cNvSpPr txBox="1"/>
          <p:nvPr/>
        </p:nvSpPr>
        <p:spPr>
          <a:xfrm>
            <a:off x="777240" y="37856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falta</a:t>
            </a:r>
            <a:endParaRPr lang="pt-BR" sz="1000" noProof="1"/>
          </a:p>
        </p:txBody>
      </p:sp>
      <p:sp>
        <p:nvSpPr>
          <p:cNvPr id="11" name="Shape 8"/>
          <p:cNvSpPr/>
          <p:nvPr/>
        </p:nvSpPr>
        <p:spPr>
          <a:xfrm>
            <a:off x="2606040" y="3108960"/>
            <a:ext cx="411480" cy="274320"/>
          </a:xfrm>
          <a:prstGeom prst="rightArrow">
            <a:avLst/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2" name="Shape 9"/>
          <p:cNvSpPr/>
          <p:nvPr/>
        </p:nvSpPr>
        <p:spPr>
          <a:xfrm>
            <a:off x="3154680" y="1874520"/>
            <a:ext cx="58521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22306B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3" name="Text 10"/>
          <p:cNvSpPr txBox="1"/>
          <p:nvPr/>
        </p:nvSpPr>
        <p:spPr>
          <a:xfrm>
            <a:off x="333756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kern="0" spc="10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 ·  1 a 4 semanas</a:t>
            </a:r>
            <a:endParaRPr lang="pt-BR" sz="1150" noProof="1"/>
          </a:p>
        </p:txBody>
      </p:sp>
      <p:sp>
        <p:nvSpPr>
          <p:cNvPr id="14" name="Shape 11"/>
          <p:cNvSpPr/>
          <p:nvPr/>
        </p:nvSpPr>
        <p:spPr>
          <a:xfrm>
            <a:off x="3694176" y="2514600"/>
            <a:ext cx="822960" cy="822960"/>
          </a:xfrm>
          <a:prstGeom prst="ellipse">
            <a:avLst/>
          </a:prstGeom>
          <a:solidFill>
            <a:srgbClr val="22306B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5" name="Text 12"/>
          <p:cNvSpPr txBox="1"/>
          <p:nvPr/>
        </p:nvSpPr>
        <p:spPr>
          <a:xfrm>
            <a:off x="3694176" y="27889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1600" noProof="1"/>
          </a:p>
        </p:txBody>
      </p:sp>
      <p:sp>
        <p:nvSpPr>
          <p:cNvPr id="16" name="Text 13"/>
          <p:cNvSpPr txBox="1"/>
          <p:nvPr/>
        </p:nvSpPr>
        <p:spPr>
          <a:xfrm>
            <a:off x="3401568" y="342900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pt-BR" sz="1200" noProof="1"/>
          </a:p>
        </p:txBody>
      </p:sp>
      <p:sp>
        <p:nvSpPr>
          <p:cNvPr id="17" name="Shape 14"/>
          <p:cNvSpPr/>
          <p:nvPr/>
        </p:nvSpPr>
        <p:spPr>
          <a:xfrm>
            <a:off x="4645152" y="2843784"/>
            <a:ext cx="256032" cy="164592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8" name="Shape 15"/>
          <p:cNvSpPr/>
          <p:nvPr/>
        </p:nvSpPr>
        <p:spPr>
          <a:xfrm>
            <a:off x="5102352" y="2514600"/>
            <a:ext cx="822960" cy="822960"/>
          </a:xfrm>
          <a:prstGeom prst="ellipse">
            <a:avLst/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9" name="Text 16"/>
          <p:cNvSpPr txBox="1"/>
          <p:nvPr/>
        </p:nvSpPr>
        <p:spPr>
          <a:xfrm>
            <a:off x="5102352" y="27889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600" noProof="1"/>
          </a:p>
        </p:txBody>
      </p:sp>
      <p:sp>
        <p:nvSpPr>
          <p:cNvPr id="20" name="Text 17"/>
          <p:cNvSpPr txBox="1"/>
          <p:nvPr/>
        </p:nvSpPr>
        <p:spPr>
          <a:xfrm>
            <a:off x="4809744" y="342900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pt-BR" sz="1200" noProof="1"/>
          </a:p>
        </p:txBody>
      </p:sp>
      <p:sp>
        <p:nvSpPr>
          <p:cNvPr id="21" name="Shape 18"/>
          <p:cNvSpPr/>
          <p:nvPr/>
        </p:nvSpPr>
        <p:spPr>
          <a:xfrm>
            <a:off x="6053328" y="2843784"/>
            <a:ext cx="256032" cy="164592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2" name="Shape 19"/>
          <p:cNvSpPr/>
          <p:nvPr/>
        </p:nvSpPr>
        <p:spPr>
          <a:xfrm>
            <a:off x="6510528" y="2514600"/>
            <a:ext cx="822960" cy="822960"/>
          </a:xfrm>
          <a:prstGeom prst="ellipse">
            <a:avLst/>
          </a:prstGeom>
          <a:solidFill>
            <a:srgbClr val="22306B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3" name="Text 20"/>
          <p:cNvSpPr txBox="1"/>
          <p:nvPr/>
        </p:nvSpPr>
        <p:spPr>
          <a:xfrm>
            <a:off x="6510528" y="27889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600" noProof="1"/>
          </a:p>
        </p:txBody>
      </p:sp>
      <p:sp>
        <p:nvSpPr>
          <p:cNvPr id="24" name="Text 21"/>
          <p:cNvSpPr txBox="1"/>
          <p:nvPr/>
        </p:nvSpPr>
        <p:spPr>
          <a:xfrm>
            <a:off x="6217920" y="342900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pt-BR" sz="1200" noProof="1"/>
          </a:p>
        </p:txBody>
      </p:sp>
      <p:sp>
        <p:nvSpPr>
          <p:cNvPr id="25" name="Shape 22"/>
          <p:cNvSpPr/>
          <p:nvPr/>
        </p:nvSpPr>
        <p:spPr>
          <a:xfrm>
            <a:off x="7461504" y="2843784"/>
            <a:ext cx="256032" cy="164592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6" name="Shape 23"/>
          <p:cNvSpPr/>
          <p:nvPr/>
        </p:nvSpPr>
        <p:spPr>
          <a:xfrm>
            <a:off x="7918704" y="2514600"/>
            <a:ext cx="822960" cy="822960"/>
          </a:xfrm>
          <a:prstGeom prst="ellipse">
            <a:avLst/>
          </a:prstGeom>
          <a:solidFill>
            <a:srgbClr val="22306B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7" name="Text 24"/>
          <p:cNvSpPr txBox="1"/>
          <p:nvPr/>
        </p:nvSpPr>
        <p:spPr>
          <a:xfrm>
            <a:off x="7918704" y="27889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600" noProof="1"/>
          </a:p>
        </p:txBody>
      </p:sp>
      <p:sp>
        <p:nvSpPr>
          <p:cNvPr id="28" name="Text 25"/>
          <p:cNvSpPr txBox="1"/>
          <p:nvPr/>
        </p:nvSpPr>
        <p:spPr>
          <a:xfrm>
            <a:off x="7626096" y="342900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pt-BR" sz="1200" noProof="1"/>
          </a:p>
        </p:txBody>
      </p:sp>
      <p:sp>
        <p:nvSpPr>
          <p:cNvPr id="29" name="Text 26"/>
          <p:cNvSpPr txBox="1"/>
          <p:nvPr/>
        </p:nvSpPr>
        <p:spPr>
          <a:xfrm>
            <a:off x="5102352" y="3666744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i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dia, 15 minutos</a:t>
            </a:r>
            <a:endParaRPr lang="pt-BR" sz="950" noProof="1"/>
          </a:p>
        </p:txBody>
      </p:sp>
      <p:sp>
        <p:nvSpPr>
          <p:cNvPr id="30" name="Shape 27"/>
          <p:cNvSpPr/>
          <p:nvPr/>
        </p:nvSpPr>
        <p:spPr>
          <a:xfrm>
            <a:off x="3566160" y="4224528"/>
            <a:ext cx="5029200" cy="219456"/>
          </a:xfrm>
          <a:prstGeom prst="leftArrow">
            <a:avLst/>
          </a:prstGeom>
          <a:solidFill>
            <a:srgbClr val="F4695F">
              <a:alpha val="70000"/>
            </a:srgbClr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1" name="Text 28"/>
          <p:cNvSpPr txBox="1"/>
          <p:nvPr/>
        </p:nvSpPr>
        <p:spPr>
          <a:xfrm>
            <a:off x="356616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aprendeu volta para o próximo sprint</a:t>
            </a:r>
            <a:endParaRPr lang="pt-BR" sz="1100" noProof="1"/>
          </a:p>
        </p:txBody>
      </p:sp>
      <p:sp>
        <p:nvSpPr>
          <p:cNvPr id="32" name="Shape 29"/>
          <p:cNvSpPr/>
          <p:nvPr/>
        </p:nvSpPr>
        <p:spPr>
          <a:xfrm>
            <a:off x="9098280" y="3108960"/>
            <a:ext cx="411480" cy="274320"/>
          </a:xfrm>
          <a:prstGeom prst="rightArrow">
            <a:avLst/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3" name="Shape 30"/>
          <p:cNvSpPr/>
          <p:nvPr/>
        </p:nvSpPr>
        <p:spPr>
          <a:xfrm>
            <a:off x="9646920" y="23774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3F4EE"/>
          </a:solidFill>
          <a:ln w="12700">
            <a:solidFill>
              <a:srgbClr val="E3F4EE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4" name="Shape 31"/>
          <p:cNvSpPr/>
          <p:nvPr/>
        </p:nvSpPr>
        <p:spPr>
          <a:xfrm>
            <a:off x="10314432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8051" y="2759659"/>
            <a:ext cx="241402" cy="241402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9738360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</a:t>
            </a:r>
            <a:endParaRPr lang="pt-BR" sz="1250" noProof="1"/>
          </a:p>
        </p:txBody>
      </p:sp>
      <p:sp>
        <p:nvSpPr>
          <p:cNvPr id="37" name="Text 33"/>
          <p:cNvSpPr txBox="1"/>
          <p:nvPr/>
        </p:nvSpPr>
        <p:spPr>
          <a:xfrm>
            <a:off x="9738360" y="3584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usar</a:t>
            </a:r>
            <a:endParaRPr lang="pt-BR" sz="1000" noProof="1"/>
          </a:p>
        </p:txBody>
      </p:sp>
      <p:sp>
        <p:nvSpPr>
          <p:cNvPr id="38" name="Text 34"/>
          <p:cNvSpPr txBox="1"/>
          <p:nvPr/>
        </p:nvSpPr>
        <p:spPr>
          <a:xfrm>
            <a:off x="685800" y="5349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sprint tem tamanho fixo. Se o trabalho não cabe, o trabalho é cortado e o prazo não estica.</a:t>
            </a:r>
            <a:endParaRPr lang="pt-BR" sz="1350" noProof="1"/>
          </a:p>
        </p:txBody>
      </p:sp>
      <p:sp>
        <p:nvSpPr>
          <p:cNvPr id="39" name="Text 35"/>
          <p:cNvSpPr txBox="1"/>
          <p:nvPr/>
        </p:nvSpPr>
        <p:spPr>
          <a:xfrm>
            <a:off x="685800" y="5687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isso que torna o ritmo previsível: em toda sexta-feira existe alguma coisa pronta para mostrar.</a:t>
            </a:r>
            <a:endParaRPr lang="pt-BR" sz="1250" noProof="1"/>
          </a:p>
        </p:txBody>
      </p:sp>
      <p:sp>
        <p:nvSpPr>
          <p:cNvPr id="40" name="Text 36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MECÂNICA PRÁTICA</a:t>
            </a:r>
            <a:endParaRPr lang="pt-BR" sz="900" noProof="1"/>
          </a:p>
        </p:txBody>
      </p:sp>
      <p:sp>
        <p:nvSpPr>
          <p:cNvPr id="41" name="Text 37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900" noProof="1"/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D89984CF-1316-C5EF-E99A-DE7DAFBA839B}"/>
              </a:ext>
            </a:extLst>
          </p:cNvPr>
          <p:cNvSpPr txBox="1"/>
          <p:nvPr/>
        </p:nvSpPr>
        <p:spPr>
          <a:xfrm>
            <a:off x="3694176" y="3683113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i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cabe no ciclo</a:t>
            </a:r>
            <a:endParaRPr lang="pt-BR" sz="950" noProof="1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2BC9029A-3A15-EC5C-DDCC-7D75700E3665}"/>
              </a:ext>
            </a:extLst>
          </p:cNvPr>
          <p:cNvSpPr txBox="1"/>
          <p:nvPr/>
        </p:nvSpPr>
        <p:spPr>
          <a:xfrm>
            <a:off x="6496530" y="3672387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i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ficou pronto</a:t>
            </a:r>
            <a:endParaRPr lang="pt-BR" sz="950" noProof="1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974E5B4E-F27D-E56B-38D4-DA204B5E4F77}"/>
              </a:ext>
            </a:extLst>
          </p:cNvPr>
          <p:cNvSpPr txBox="1"/>
          <p:nvPr/>
        </p:nvSpPr>
        <p:spPr>
          <a:xfrm>
            <a:off x="7918930" y="3672387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i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melhorar na próxima</a:t>
            </a:r>
            <a:endParaRPr lang="pt-BR" sz="9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MECÂNICA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quadro: o trabalho fica visível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9677095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9677095" y="868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</a:t>
            </a:r>
            <a:endParaRPr lang="pt-BR" sz="1100" noProof="1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7" name="Text 5"/>
          <p:cNvSpPr txBox="1"/>
          <p:nvPr/>
        </p:nvSpPr>
        <p:spPr>
          <a:xfrm>
            <a:off x="868680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fazer</a:t>
            </a:r>
            <a:endParaRPr lang="pt-BR" sz="1300" noProof="1"/>
          </a:p>
        </p:txBody>
      </p:sp>
      <p:sp>
        <p:nvSpPr>
          <p:cNvPr id="8" name="Text 6"/>
          <p:cNvSpPr txBox="1"/>
          <p:nvPr/>
        </p:nvSpPr>
        <p:spPr>
          <a:xfrm>
            <a:off x="28346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300" b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300" noProof="1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240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0" name="Shape 8"/>
          <p:cNvSpPr/>
          <p:nvPr/>
        </p:nvSpPr>
        <p:spPr>
          <a:xfrm>
            <a:off x="1005840" y="2432304"/>
            <a:ext cx="457200" cy="82296"/>
          </a:xfrm>
          <a:prstGeom prst="roundRect">
            <a:avLst>
              <a:gd name="adj" fmla="val 44444"/>
            </a:avLst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1" name="Text 9"/>
          <p:cNvSpPr txBox="1"/>
          <p:nvPr/>
        </p:nvSpPr>
        <p:spPr>
          <a:xfrm>
            <a:off x="1005840" y="25968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pt-BR" sz="1200" noProof="1"/>
          </a:p>
        </p:txBody>
      </p:sp>
      <p:sp>
        <p:nvSpPr>
          <p:cNvPr id="12" name="Text 10"/>
          <p:cNvSpPr txBox="1"/>
          <p:nvPr/>
        </p:nvSpPr>
        <p:spPr>
          <a:xfrm>
            <a:off x="1005840" y="28529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pt-BR" sz="1000" noProof="1"/>
          </a:p>
        </p:txBody>
      </p:sp>
      <p:sp>
        <p:nvSpPr>
          <p:cNvPr id="13" name="Shape 11"/>
          <p:cNvSpPr/>
          <p:nvPr/>
        </p:nvSpPr>
        <p:spPr>
          <a:xfrm>
            <a:off x="868680" y="3273552"/>
            <a:ext cx="2240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4" name="Shape 12"/>
          <p:cNvSpPr/>
          <p:nvPr/>
        </p:nvSpPr>
        <p:spPr>
          <a:xfrm>
            <a:off x="1005840" y="3419856"/>
            <a:ext cx="457200" cy="82296"/>
          </a:xfrm>
          <a:prstGeom prst="roundRect">
            <a:avLst>
              <a:gd name="adj" fmla="val 44444"/>
            </a:avLst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5" name="Text 13"/>
          <p:cNvSpPr txBox="1"/>
          <p:nvPr/>
        </p:nvSpPr>
        <p:spPr>
          <a:xfrm>
            <a:off x="1005840" y="3584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final</a:t>
            </a:r>
            <a:endParaRPr lang="pt-BR" sz="1200" noProof="1"/>
          </a:p>
        </p:txBody>
      </p:sp>
      <p:sp>
        <p:nvSpPr>
          <p:cNvPr id="16" name="Text 14"/>
          <p:cNvSpPr txBox="1"/>
          <p:nvPr/>
        </p:nvSpPr>
        <p:spPr>
          <a:xfrm>
            <a:off x="1005840" y="38404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pt-BR" sz="1000" noProof="1"/>
          </a:p>
        </p:txBody>
      </p:sp>
      <p:sp>
        <p:nvSpPr>
          <p:cNvPr id="17" name="Shape 15"/>
          <p:cNvSpPr/>
          <p:nvPr/>
        </p:nvSpPr>
        <p:spPr>
          <a:xfrm>
            <a:off x="868680" y="4261104"/>
            <a:ext cx="2240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8" name="Shape 16"/>
          <p:cNvSpPr/>
          <p:nvPr/>
        </p:nvSpPr>
        <p:spPr>
          <a:xfrm>
            <a:off x="1005840" y="4407408"/>
            <a:ext cx="457200" cy="82296"/>
          </a:xfrm>
          <a:prstGeom prst="roundRect">
            <a:avLst>
              <a:gd name="adj" fmla="val 44444"/>
            </a:avLst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9" name="Text 17"/>
          <p:cNvSpPr txBox="1"/>
          <p:nvPr/>
        </p:nvSpPr>
        <p:spPr>
          <a:xfrm>
            <a:off x="1005840" y="45720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pt-BR" sz="1200" noProof="1"/>
          </a:p>
        </p:txBody>
      </p:sp>
      <p:sp>
        <p:nvSpPr>
          <p:cNvPr id="20" name="Text 18"/>
          <p:cNvSpPr txBox="1"/>
          <p:nvPr/>
        </p:nvSpPr>
        <p:spPr>
          <a:xfrm>
            <a:off x="1005840" y="48280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</a:t>
            </a:r>
            <a:endParaRPr lang="pt-BR" sz="1000" noProof="1"/>
          </a:p>
        </p:txBody>
      </p:sp>
      <p:sp>
        <p:nvSpPr>
          <p:cNvPr id="21" name="Shape 19"/>
          <p:cNvSpPr/>
          <p:nvPr/>
        </p:nvSpPr>
        <p:spPr>
          <a:xfrm>
            <a:off x="3474720" y="16916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FDF3DD"/>
          </a:solidFill>
          <a:ln w="12700">
            <a:solidFill>
              <a:srgbClr val="FDF3DD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2" name="Text 20"/>
          <p:cNvSpPr txBox="1"/>
          <p:nvPr/>
        </p:nvSpPr>
        <p:spPr>
          <a:xfrm>
            <a:off x="3657600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Fazendo</a:t>
            </a:r>
            <a:endParaRPr lang="pt-BR" sz="1300" noProof="1"/>
          </a:p>
        </p:txBody>
      </p:sp>
      <p:sp>
        <p:nvSpPr>
          <p:cNvPr id="23" name="Text 21"/>
          <p:cNvSpPr txBox="1"/>
          <p:nvPr/>
        </p:nvSpPr>
        <p:spPr>
          <a:xfrm>
            <a:off x="56235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300" b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300" noProof="1"/>
          </a:p>
        </p:txBody>
      </p:sp>
      <p:sp>
        <p:nvSpPr>
          <p:cNvPr id="24" name="Shape 22"/>
          <p:cNvSpPr/>
          <p:nvPr/>
        </p:nvSpPr>
        <p:spPr>
          <a:xfrm>
            <a:off x="3657600" y="2286000"/>
            <a:ext cx="2240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25" name="Shape 23"/>
          <p:cNvSpPr/>
          <p:nvPr/>
        </p:nvSpPr>
        <p:spPr>
          <a:xfrm>
            <a:off x="3794760" y="2432304"/>
            <a:ext cx="457200" cy="82296"/>
          </a:xfrm>
          <a:prstGeom prst="roundRect">
            <a:avLst>
              <a:gd name="adj" fmla="val 44444"/>
            </a:avLst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6" name="Text 24"/>
          <p:cNvSpPr txBox="1"/>
          <p:nvPr/>
        </p:nvSpPr>
        <p:spPr>
          <a:xfrm>
            <a:off x="3794760" y="25968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endParaRPr lang="pt-BR" sz="1200" noProof="1"/>
          </a:p>
        </p:txBody>
      </p:sp>
      <p:sp>
        <p:nvSpPr>
          <p:cNvPr id="27" name="Text 25"/>
          <p:cNvSpPr txBox="1"/>
          <p:nvPr/>
        </p:nvSpPr>
        <p:spPr>
          <a:xfrm>
            <a:off x="3794760" y="28529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</a:t>
            </a:r>
            <a:endParaRPr lang="pt-BR" sz="1000" noProof="1"/>
          </a:p>
        </p:txBody>
      </p:sp>
      <p:sp>
        <p:nvSpPr>
          <p:cNvPr id="28" name="Shape 26"/>
          <p:cNvSpPr/>
          <p:nvPr/>
        </p:nvSpPr>
        <p:spPr>
          <a:xfrm>
            <a:off x="3657600" y="3273552"/>
            <a:ext cx="2240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29" name="Shape 27"/>
          <p:cNvSpPr/>
          <p:nvPr/>
        </p:nvSpPr>
        <p:spPr>
          <a:xfrm>
            <a:off x="3794760" y="3419856"/>
            <a:ext cx="457200" cy="82296"/>
          </a:xfrm>
          <a:prstGeom prst="roundRect">
            <a:avLst>
              <a:gd name="adj" fmla="val 44444"/>
            </a:avLst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0" name="Text 28"/>
          <p:cNvSpPr txBox="1"/>
          <p:nvPr/>
        </p:nvSpPr>
        <p:spPr>
          <a:xfrm>
            <a:off x="3794760" y="3584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pt-BR" sz="1200" noProof="1"/>
          </a:p>
        </p:txBody>
      </p:sp>
      <p:sp>
        <p:nvSpPr>
          <p:cNvPr id="31" name="Text 29"/>
          <p:cNvSpPr txBox="1"/>
          <p:nvPr/>
        </p:nvSpPr>
        <p:spPr>
          <a:xfrm>
            <a:off x="3794760" y="38404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</a:t>
            </a:r>
            <a:endParaRPr lang="pt-BR" sz="1000" noProof="1"/>
          </a:p>
        </p:txBody>
      </p:sp>
      <p:sp>
        <p:nvSpPr>
          <p:cNvPr id="32" name="Shape 30"/>
          <p:cNvSpPr/>
          <p:nvPr/>
        </p:nvSpPr>
        <p:spPr>
          <a:xfrm>
            <a:off x="6263640" y="16916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E3F4EE"/>
          </a:solidFill>
          <a:ln w="12700">
            <a:solidFill>
              <a:srgbClr val="E3F4EE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3" name="Text 31"/>
          <p:cNvSpPr txBox="1"/>
          <p:nvPr/>
        </p:nvSpPr>
        <p:spPr>
          <a:xfrm>
            <a:off x="6446520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pt-BR" sz="1300" noProof="1"/>
          </a:p>
        </p:txBody>
      </p:sp>
      <p:sp>
        <p:nvSpPr>
          <p:cNvPr id="34" name="Text 32"/>
          <p:cNvSpPr txBox="1"/>
          <p:nvPr/>
        </p:nvSpPr>
        <p:spPr>
          <a:xfrm>
            <a:off x="8412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300" b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300" noProof="1"/>
          </a:p>
        </p:txBody>
      </p:sp>
      <p:sp>
        <p:nvSpPr>
          <p:cNvPr id="35" name="Shape 33"/>
          <p:cNvSpPr/>
          <p:nvPr/>
        </p:nvSpPr>
        <p:spPr>
          <a:xfrm>
            <a:off x="6446520" y="2286000"/>
            <a:ext cx="2240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36" name="Shape 34"/>
          <p:cNvSpPr/>
          <p:nvPr/>
        </p:nvSpPr>
        <p:spPr>
          <a:xfrm>
            <a:off x="6583680" y="2432304"/>
            <a:ext cx="457200" cy="82296"/>
          </a:xfrm>
          <a:prstGeom prst="roundRect">
            <a:avLst>
              <a:gd name="adj" fmla="val 44444"/>
            </a:avLst>
          </a:prstGeom>
          <a:solidFill>
            <a:srgbClr val="1E8F6E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7" name="Text 35"/>
          <p:cNvSpPr txBox="1"/>
          <p:nvPr/>
        </p:nvSpPr>
        <p:spPr>
          <a:xfrm>
            <a:off x="6583680" y="25968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pt-BR" sz="1200" noProof="1"/>
          </a:p>
        </p:txBody>
      </p:sp>
      <p:sp>
        <p:nvSpPr>
          <p:cNvPr id="38" name="Text 36"/>
          <p:cNvSpPr txBox="1"/>
          <p:nvPr/>
        </p:nvSpPr>
        <p:spPr>
          <a:xfrm>
            <a:off x="6583680" y="28529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pt-BR" sz="1000" noProof="1"/>
          </a:p>
        </p:txBody>
      </p:sp>
      <p:sp>
        <p:nvSpPr>
          <p:cNvPr id="39" name="Shape 37"/>
          <p:cNvSpPr/>
          <p:nvPr/>
        </p:nvSpPr>
        <p:spPr>
          <a:xfrm>
            <a:off x="6446520" y="3273552"/>
            <a:ext cx="2240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40" name="Shape 38"/>
          <p:cNvSpPr/>
          <p:nvPr/>
        </p:nvSpPr>
        <p:spPr>
          <a:xfrm>
            <a:off x="6583680" y="3419856"/>
            <a:ext cx="457200" cy="82296"/>
          </a:xfrm>
          <a:prstGeom prst="roundRect">
            <a:avLst>
              <a:gd name="adj" fmla="val 44444"/>
            </a:avLst>
          </a:prstGeom>
          <a:solidFill>
            <a:srgbClr val="1E8F6E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41" name="Text 39"/>
          <p:cNvSpPr txBox="1"/>
          <p:nvPr/>
        </p:nvSpPr>
        <p:spPr>
          <a:xfrm>
            <a:off x="6583680" y="3584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pt-BR" sz="1200" noProof="1"/>
          </a:p>
        </p:txBody>
      </p:sp>
      <p:sp>
        <p:nvSpPr>
          <p:cNvPr id="42" name="Text 40"/>
          <p:cNvSpPr txBox="1"/>
          <p:nvPr/>
        </p:nvSpPr>
        <p:spPr>
          <a:xfrm>
            <a:off x="6583680" y="38404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</a:t>
            </a:r>
            <a:endParaRPr lang="pt-BR" sz="1000" noProof="1"/>
          </a:p>
        </p:txBody>
      </p:sp>
      <p:sp>
        <p:nvSpPr>
          <p:cNvPr id="43" name="Shape 41"/>
          <p:cNvSpPr/>
          <p:nvPr/>
        </p:nvSpPr>
        <p:spPr>
          <a:xfrm>
            <a:off x="6446520" y="4261104"/>
            <a:ext cx="2240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44" name="Shape 42"/>
          <p:cNvSpPr/>
          <p:nvPr/>
        </p:nvSpPr>
        <p:spPr>
          <a:xfrm>
            <a:off x="6583680" y="4407408"/>
            <a:ext cx="457200" cy="82296"/>
          </a:xfrm>
          <a:prstGeom prst="roundRect">
            <a:avLst>
              <a:gd name="adj" fmla="val 44444"/>
            </a:avLst>
          </a:prstGeom>
          <a:solidFill>
            <a:srgbClr val="1E8F6E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45" name="Text 43"/>
          <p:cNvSpPr txBox="1"/>
          <p:nvPr/>
        </p:nvSpPr>
        <p:spPr>
          <a:xfrm>
            <a:off x="6583680" y="45720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pt-BR" sz="1200" noProof="1"/>
          </a:p>
        </p:txBody>
      </p:sp>
      <p:sp>
        <p:nvSpPr>
          <p:cNvPr id="46" name="Text 44"/>
          <p:cNvSpPr txBox="1"/>
          <p:nvPr/>
        </p:nvSpPr>
        <p:spPr>
          <a:xfrm>
            <a:off x="6583680" y="48280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pt-BR" sz="1000" noProof="1"/>
          </a:p>
        </p:txBody>
      </p:sp>
      <p:sp>
        <p:nvSpPr>
          <p:cNvPr id="47" name="Shape 45"/>
          <p:cNvSpPr/>
          <p:nvPr/>
        </p:nvSpPr>
        <p:spPr>
          <a:xfrm>
            <a:off x="9326880" y="1691640"/>
            <a:ext cx="2194560" cy="3794760"/>
          </a:xfrm>
          <a:prstGeom prst="roundRect">
            <a:avLst>
              <a:gd name="adj" fmla="val 5000"/>
            </a:avLst>
          </a:prstGeom>
          <a:solidFill>
            <a:srgbClr val="22306B"/>
          </a:solidFill>
          <a:ln w="12700">
            <a:solidFill>
              <a:srgbClr val="22306B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48" name="Text 46"/>
          <p:cNvSpPr txBox="1"/>
          <p:nvPr/>
        </p:nvSpPr>
        <p:spPr>
          <a:xfrm>
            <a:off x="9555480" y="19202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funciona</a:t>
            </a:r>
            <a:endParaRPr lang="pt-BR" sz="1500" noProof="1"/>
          </a:p>
        </p:txBody>
      </p:sp>
      <p:sp>
        <p:nvSpPr>
          <p:cNvPr id="49" name="Shape 47"/>
          <p:cNvSpPr/>
          <p:nvPr/>
        </p:nvSpPr>
        <p:spPr>
          <a:xfrm>
            <a:off x="9555480" y="2478024"/>
            <a:ext cx="146304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50" name="Text 48"/>
          <p:cNvSpPr txBox="1"/>
          <p:nvPr/>
        </p:nvSpPr>
        <p:spPr>
          <a:xfrm>
            <a:off x="9555480" y="2569464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100" noProof="1">
                <a:solidFill>
                  <a:srgbClr val="D7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pergunta “como está?” O quadro responde.</a:t>
            </a:r>
            <a:endParaRPr lang="pt-BR" sz="1100" noProof="1"/>
          </a:p>
        </p:txBody>
      </p:sp>
      <p:sp>
        <p:nvSpPr>
          <p:cNvPr id="51" name="Shape 49"/>
          <p:cNvSpPr/>
          <p:nvPr/>
        </p:nvSpPr>
        <p:spPr>
          <a:xfrm>
            <a:off x="9555480" y="3529584"/>
            <a:ext cx="146304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52" name="Text 50"/>
          <p:cNvSpPr txBox="1"/>
          <p:nvPr/>
        </p:nvSpPr>
        <p:spPr>
          <a:xfrm>
            <a:off x="9555480" y="3621024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100" noProof="1">
                <a:solidFill>
                  <a:srgbClr val="D7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“Fazendo” cheia = todo mundo começando, ninguém terminando.</a:t>
            </a:r>
            <a:endParaRPr lang="pt-BR" sz="1100" noProof="1"/>
          </a:p>
        </p:txBody>
      </p:sp>
      <p:sp>
        <p:nvSpPr>
          <p:cNvPr id="53" name="Shape 51"/>
          <p:cNvSpPr/>
          <p:nvPr/>
        </p:nvSpPr>
        <p:spPr>
          <a:xfrm>
            <a:off x="9555480" y="4581144"/>
            <a:ext cx="146304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54" name="Text 52"/>
          <p:cNvSpPr txBox="1"/>
          <p:nvPr/>
        </p:nvSpPr>
        <p:spPr>
          <a:xfrm>
            <a:off x="9555480" y="4672584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100" noProof="1">
                <a:solidFill>
                  <a:srgbClr val="D7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WIP: no máximo 2 cartões por pessoa em andamento.</a:t>
            </a:r>
            <a:endParaRPr lang="pt-BR" sz="1100" noProof="1"/>
          </a:p>
        </p:txBody>
      </p:sp>
      <p:sp>
        <p:nvSpPr>
          <p:cNvPr id="55" name="Text 53"/>
          <p:cNvSpPr txBox="1"/>
          <p:nvPr/>
        </p:nvSpPr>
        <p:spPr>
          <a:xfrm>
            <a:off x="685800" y="5669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Trello, Jira, Miro ou papel na parede: a ferramenta não importa, a visibilidade sim.</a:t>
            </a:r>
            <a:endParaRPr lang="pt-BR" sz="1250" noProof="1"/>
          </a:p>
        </p:txBody>
      </p:sp>
      <p:sp>
        <p:nvSpPr>
          <p:cNvPr id="56" name="Text 54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MECÂNICA PRÁTICA</a:t>
            </a:r>
            <a:endParaRPr lang="pt-BR" sz="900" noProof="1"/>
          </a:p>
        </p:txBody>
      </p:sp>
      <p:sp>
        <p:nvSpPr>
          <p:cNvPr id="57" name="Text 55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BR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MECÂNICA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Burndown: quanto ainda falta?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9677095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9677095" y="868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</a:t>
            </a:r>
            <a:endParaRPr lang="pt-BR" sz="1100" noProof="1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393583893"/>
              </p:ext>
            </p:extLst>
          </p:nvPr>
        </p:nvGraphicFramePr>
        <p:xfrm>
          <a:off x="685800" y="1691640"/>
          <a:ext cx="69494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955280" y="169164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8" name="Text 5"/>
          <p:cNvSpPr txBox="1"/>
          <p:nvPr/>
        </p:nvSpPr>
        <p:spPr>
          <a:xfrm>
            <a:off x="8229600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pt-BR" sz="1500" noProof="1"/>
          </a:p>
        </p:txBody>
      </p:sp>
      <p:sp>
        <p:nvSpPr>
          <p:cNvPr id="9" name="Text 6"/>
          <p:cNvSpPr txBox="1"/>
          <p:nvPr/>
        </p:nvSpPr>
        <p:spPr>
          <a:xfrm>
            <a:off x="8229600" y="2240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desce até zero quando tudo fica pronto. Se a curva real fica acima da ideal por dois dias seguidos, o sprint vai atrasar.</a:t>
            </a:r>
            <a:endParaRPr lang="pt-BR" sz="1200" noProof="1"/>
          </a:p>
        </p:txBody>
      </p:sp>
      <p:sp>
        <p:nvSpPr>
          <p:cNvPr id="10" name="Shape 7"/>
          <p:cNvSpPr/>
          <p:nvPr/>
        </p:nvSpPr>
        <p:spPr>
          <a:xfrm>
            <a:off x="7955280" y="374904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22306B"/>
          </a:solidFill>
          <a:ln w="12700">
            <a:solidFill>
              <a:srgbClr val="22306B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1" name="Text 8"/>
          <p:cNvSpPr txBox="1"/>
          <p:nvPr/>
        </p:nvSpPr>
        <p:spPr>
          <a:xfrm>
            <a:off x="8229600" y="3959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</a:t>
            </a:r>
            <a:endParaRPr lang="pt-BR" sz="1500" noProof="1"/>
          </a:p>
        </p:txBody>
      </p:sp>
      <p:sp>
        <p:nvSpPr>
          <p:cNvPr id="12" name="Text 9"/>
          <p:cNvSpPr txBox="1"/>
          <p:nvPr/>
        </p:nvSpPr>
        <p:spPr>
          <a:xfrm>
            <a:off x="8229600" y="4251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400" b="1" noProof="1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pt-BR" sz="4400" noProof="1"/>
          </a:p>
        </p:txBody>
      </p:sp>
      <p:sp>
        <p:nvSpPr>
          <p:cNvPr id="13" name="Text 10"/>
          <p:cNvSpPr txBox="1"/>
          <p:nvPr/>
        </p:nvSpPr>
        <p:spPr>
          <a:xfrm>
            <a:off x="9281160" y="4434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00" noProof="1">
                <a:solidFill>
                  <a:srgbClr val="D7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concluídas por sprint, em média</a:t>
            </a:r>
            <a:endParaRPr lang="pt-BR" sz="1100" noProof="1"/>
          </a:p>
        </p:txBody>
      </p:sp>
      <p:sp>
        <p:nvSpPr>
          <p:cNvPr id="14" name="Text 11"/>
          <p:cNvSpPr txBox="1"/>
          <p:nvPr/>
        </p:nvSpPr>
        <p:spPr>
          <a:xfrm>
            <a:off x="8229600" y="5074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00" i="1" noProof="1">
                <a:solidFill>
                  <a:srgbClr val="AA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 esse número que vocês prometem o próximo sprint.</a:t>
            </a:r>
            <a:endParaRPr lang="pt-BR" sz="1100" noProof="1"/>
          </a:p>
        </p:txBody>
      </p:sp>
      <p:sp>
        <p:nvSpPr>
          <p:cNvPr id="15" name="Text 12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MECÂNICA PRÁTICA</a:t>
            </a:r>
            <a:endParaRPr lang="pt-BR" sz="900" noProof="1"/>
          </a:p>
        </p:txBody>
      </p:sp>
      <p:sp>
        <p:nvSpPr>
          <p:cNvPr id="16" name="Text 13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pt-BR" sz="9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23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05840"/>
            <a:ext cx="4754880" cy="4754880"/>
          </a:xfrm>
          <a:prstGeom prst="donut">
            <a:avLst/>
          </a:prstGeom>
          <a:solidFill>
            <a:srgbClr val="3D4C92">
              <a:alpha val="40000"/>
            </a:srgbClr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" name="Shape 1"/>
          <p:cNvSpPr/>
          <p:nvPr/>
        </p:nvSpPr>
        <p:spPr>
          <a:xfrm>
            <a:off x="9966960" y="2377440"/>
            <a:ext cx="2011680" cy="2011680"/>
          </a:xfrm>
          <a:prstGeom prst="ellipse">
            <a:avLst/>
          </a:prstGeom>
          <a:solidFill>
            <a:srgbClr val="17204A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0" y="2940710"/>
            <a:ext cx="885139" cy="8851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6800" b="1" noProof="1">
                <a:solidFill>
                  <a:srgbClr val="3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pt-BR" sz="6800" noProof="1"/>
          </a:p>
        </p:txBody>
      </p:sp>
      <p:sp>
        <p:nvSpPr>
          <p:cNvPr id="6" name="Text 3"/>
          <p:cNvSpPr txBox="1"/>
          <p:nvPr/>
        </p:nvSpPr>
        <p:spPr>
          <a:xfrm>
            <a:off x="685800" y="2514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3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real</a:t>
            </a:r>
            <a:endParaRPr lang="pt-BR" sz="3800" noProof="1"/>
          </a:p>
        </p:txBody>
      </p:sp>
      <p:sp>
        <p:nvSpPr>
          <p:cNvPr id="7" name="Shape 4"/>
          <p:cNvSpPr/>
          <p:nvPr/>
        </p:nvSpPr>
        <p:spPr>
          <a:xfrm>
            <a:off x="685800" y="3794760"/>
            <a:ext cx="1097280" cy="45720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8" name="Shape 5"/>
          <p:cNvSpPr/>
          <p:nvPr/>
        </p:nvSpPr>
        <p:spPr>
          <a:xfrm>
            <a:off x="685800" y="4206240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9" name="Text 6"/>
          <p:cNvSpPr txBox="1"/>
          <p:nvPr/>
        </p:nvSpPr>
        <p:spPr>
          <a:xfrm>
            <a:off x="941832" y="41148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1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descobrir um erro tarde</a:t>
            </a:r>
            <a:endParaRPr lang="pt-BR" sz="1400" noProof="1"/>
          </a:p>
        </p:txBody>
      </p:sp>
      <p:sp>
        <p:nvSpPr>
          <p:cNvPr id="10" name="Shape 7"/>
          <p:cNvSpPr/>
          <p:nvPr/>
        </p:nvSpPr>
        <p:spPr>
          <a:xfrm>
            <a:off x="685800" y="4626864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1" name="Text 8"/>
          <p:cNvSpPr txBox="1"/>
          <p:nvPr/>
        </p:nvSpPr>
        <p:spPr>
          <a:xfrm>
            <a:off x="941832" y="453542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1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métricas que o mercado olha</a:t>
            </a:r>
            <a:endParaRPr lang="pt-BR" sz="1400" noProof="1"/>
          </a:p>
        </p:txBody>
      </p:sp>
      <p:sp>
        <p:nvSpPr>
          <p:cNvPr id="12" name="Shape 9"/>
          <p:cNvSpPr/>
          <p:nvPr/>
        </p:nvSpPr>
        <p:spPr>
          <a:xfrm>
            <a:off x="685800" y="5047488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3" name="Text 10"/>
          <p:cNvSpPr txBox="1"/>
          <p:nvPr/>
        </p:nvSpPr>
        <p:spPr>
          <a:xfrm>
            <a:off x="941832" y="49560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1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a prática está indo — e onde ela não serve</a:t>
            </a:r>
            <a:endParaRPr lang="pt-BR" sz="1400" noProof="1"/>
          </a:p>
        </p:txBody>
      </p:sp>
      <p:sp>
        <p:nvSpPr>
          <p:cNvPr id="14" name="Text 11"/>
          <p:cNvSpPr txBox="1"/>
          <p:nvPr/>
        </p:nvSpPr>
        <p:spPr>
          <a:xfrm>
            <a:off x="68580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pt-BR" sz="15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erro não muda. O preço dele, sim.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9677095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9677095" y="868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pt-BR" sz="1100" noProof="1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1737360"/>
          <a:ext cx="69494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623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i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relativo de corrigir o mesmo defeito, por fase em que ele é encontrado</a:t>
            </a:r>
            <a:endParaRPr lang="pt-BR" sz="1050" noProof="1"/>
          </a:p>
        </p:txBody>
      </p:sp>
      <p:sp>
        <p:nvSpPr>
          <p:cNvPr id="8" name="Shape 5"/>
          <p:cNvSpPr/>
          <p:nvPr/>
        </p:nvSpPr>
        <p:spPr>
          <a:xfrm>
            <a:off x="7955280" y="173736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DE7E5"/>
          </a:solidFill>
          <a:ln w="12700">
            <a:solidFill>
              <a:srgbClr val="FDE7E5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9" name="Text 6"/>
          <p:cNvSpPr txBox="1"/>
          <p:nvPr/>
        </p:nvSpPr>
        <p:spPr>
          <a:xfrm>
            <a:off x="8229600" y="1965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200" b="1" noProof="1">
                <a:solidFill>
                  <a:srgbClr val="F4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100×</a:t>
            </a:r>
            <a:endParaRPr lang="pt-BR" sz="5200" noProof="1"/>
          </a:p>
        </p:txBody>
      </p:sp>
      <p:sp>
        <p:nvSpPr>
          <p:cNvPr id="10" name="Text 7"/>
          <p:cNvSpPr txBox="1"/>
          <p:nvPr/>
        </p:nvSpPr>
        <p:spPr>
          <a:xfrm>
            <a:off x="8229600" y="27614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ordem de grandeza entre achar o erro no começo e achar no cliente.</a:t>
            </a:r>
            <a:endParaRPr lang="pt-BR" sz="1200" noProof="1"/>
          </a:p>
        </p:txBody>
      </p:sp>
      <p:sp>
        <p:nvSpPr>
          <p:cNvPr id="11" name="Shape 8"/>
          <p:cNvSpPr/>
          <p:nvPr/>
        </p:nvSpPr>
        <p:spPr>
          <a:xfrm>
            <a:off x="7955280" y="36118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2" name="Shape 9"/>
          <p:cNvSpPr/>
          <p:nvPr/>
        </p:nvSpPr>
        <p:spPr>
          <a:xfrm>
            <a:off x="8229600" y="3840480"/>
            <a:ext cx="457200" cy="457200"/>
          </a:xfrm>
          <a:prstGeom prst="ellipse">
            <a:avLst/>
          </a:prstGeom>
          <a:solidFill>
            <a:srgbClr val="FDE7E5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396849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796528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do iterativo</a:t>
            </a:r>
            <a:endParaRPr lang="pt-BR" sz="1400" noProof="1"/>
          </a:p>
        </p:txBody>
      </p:sp>
      <p:sp>
        <p:nvSpPr>
          <p:cNvPr id="15" name="Text 11"/>
          <p:cNvSpPr txBox="1"/>
          <p:nvPr/>
        </p:nvSpPr>
        <p:spPr>
          <a:xfrm>
            <a:off x="8229600" y="440740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curtos empurram a descoberta do erro para a esquerda do gráfico. Não é que a equipe erre menos — ela erra mais cedo, onde é barato.</a:t>
            </a:r>
            <a:endParaRPr lang="pt-BR" sz="1200" noProof="1"/>
          </a:p>
        </p:txBody>
      </p:sp>
      <p:sp>
        <p:nvSpPr>
          <p:cNvPr id="16" name="Text 12"/>
          <p:cNvSpPr txBox="1"/>
          <p:nvPr/>
        </p:nvSpPr>
        <p:spPr>
          <a:xfrm>
            <a:off x="685800" y="594360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i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Boehm &amp; Basili (2001): corrigir depois da entrega custa cerca de 100× mais do que na fase de requisitos. Valores por fase ilustrativos; em projetos pequenos a proporção fica perto de 5:1.</a:t>
            </a:r>
            <a:endParaRPr lang="pt-BR" sz="1050" noProof="1"/>
          </a:p>
        </p:txBody>
      </p:sp>
      <p:sp>
        <p:nvSpPr>
          <p:cNvPr id="17" name="Text 13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IMPACTO REAL</a:t>
            </a:r>
            <a:endParaRPr lang="pt-BR" sz="900" noProof="1"/>
          </a:p>
        </p:txBody>
      </p:sp>
      <p:sp>
        <p:nvSpPr>
          <p:cNvPr id="18" name="Text 14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pt-BR" sz="9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 mede em um time iterativo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9677095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9677095" y="868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pt-BR" sz="1100" noProof="1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F2F4FA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21195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2670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time</a:t>
            </a:r>
            <a:endParaRPr lang="pt-BR" sz="1700" noProof="1"/>
          </a:p>
        </p:txBody>
      </p:sp>
      <p:sp>
        <p:nvSpPr>
          <p:cNvPr id="10" name="Text 7"/>
          <p:cNvSpPr txBox="1"/>
          <p:nvPr/>
        </p:nvSpPr>
        <p:spPr>
          <a:xfrm>
            <a:off x="914400" y="2999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pedido à entrega</a:t>
            </a:r>
            <a:endParaRPr lang="pt-BR" sz="1150" noProof="1"/>
          </a:p>
        </p:txBody>
      </p:sp>
      <p:sp>
        <p:nvSpPr>
          <p:cNvPr id="11" name="Text 8"/>
          <p:cNvSpPr txBox="1"/>
          <p:nvPr/>
        </p:nvSpPr>
        <p:spPr>
          <a:xfrm>
            <a:off x="914400" y="3383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o tempo total, inclusive a espera na fila. É o que o cliente sente.</a:t>
            </a:r>
            <a:endParaRPr lang="pt-BR" sz="1200" noProof="1"/>
          </a:p>
        </p:txBody>
      </p:sp>
      <p:sp>
        <p:nvSpPr>
          <p:cNvPr id="12" name="Shape 9"/>
          <p:cNvSpPr/>
          <p:nvPr/>
        </p:nvSpPr>
        <p:spPr>
          <a:xfrm>
            <a:off x="3474720" y="17373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3" name="Shape 10"/>
          <p:cNvSpPr/>
          <p:nvPr/>
        </p:nvSpPr>
        <p:spPr>
          <a:xfrm>
            <a:off x="3703320" y="1965960"/>
            <a:ext cx="548640" cy="548640"/>
          </a:xfrm>
          <a:prstGeom prst="ellipse">
            <a:avLst/>
          </a:prstGeom>
          <a:solidFill>
            <a:srgbClr val="F2F4FA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6939" y="211957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03320" y="2670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time</a:t>
            </a:r>
            <a:endParaRPr lang="pt-BR" sz="1700" noProof="1"/>
          </a:p>
        </p:txBody>
      </p:sp>
      <p:sp>
        <p:nvSpPr>
          <p:cNvPr id="16" name="Text 12"/>
          <p:cNvSpPr txBox="1"/>
          <p:nvPr/>
        </p:nvSpPr>
        <p:spPr>
          <a:xfrm>
            <a:off x="3703320" y="2999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“comecei” ao “pronto”</a:t>
            </a:r>
            <a:endParaRPr lang="pt-BR" sz="1150" noProof="1"/>
          </a:p>
        </p:txBody>
      </p:sp>
      <p:sp>
        <p:nvSpPr>
          <p:cNvPr id="17" name="Text 13"/>
          <p:cNvSpPr txBox="1"/>
          <p:nvPr/>
        </p:nvSpPr>
        <p:spPr>
          <a:xfrm>
            <a:off x="3703320" y="3383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tempo trabalhando. Se é curto e o lead time é longo, o gargalo é a fila.</a:t>
            </a:r>
            <a:endParaRPr lang="pt-BR" sz="1200" noProof="1"/>
          </a:p>
        </p:txBody>
      </p:sp>
      <p:sp>
        <p:nvSpPr>
          <p:cNvPr id="18" name="Shape 14"/>
          <p:cNvSpPr/>
          <p:nvPr/>
        </p:nvSpPr>
        <p:spPr>
          <a:xfrm>
            <a:off x="6263640" y="17373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9" name="Shape 15"/>
          <p:cNvSpPr/>
          <p:nvPr/>
        </p:nvSpPr>
        <p:spPr>
          <a:xfrm>
            <a:off x="6492240" y="1965960"/>
            <a:ext cx="548640" cy="548640"/>
          </a:xfrm>
          <a:prstGeom prst="ellipse">
            <a:avLst/>
          </a:prstGeom>
          <a:solidFill>
            <a:srgbClr val="F2F4FA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859" y="211957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92240" y="2670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</a:t>
            </a:r>
            <a:endParaRPr lang="pt-BR" sz="1700" noProof="1"/>
          </a:p>
        </p:txBody>
      </p:sp>
      <p:sp>
        <p:nvSpPr>
          <p:cNvPr id="22" name="Text 17"/>
          <p:cNvSpPr txBox="1"/>
          <p:nvPr/>
        </p:nvSpPr>
        <p:spPr>
          <a:xfrm>
            <a:off x="6492240" y="2999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por sprint</a:t>
            </a:r>
            <a:endParaRPr lang="pt-BR" sz="1150" noProof="1"/>
          </a:p>
        </p:txBody>
      </p:sp>
      <p:sp>
        <p:nvSpPr>
          <p:cNvPr id="23" name="Text 18"/>
          <p:cNvSpPr txBox="1"/>
          <p:nvPr/>
        </p:nvSpPr>
        <p:spPr>
          <a:xfrm>
            <a:off x="6492240" y="3383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para prever o próximo ciclo e não para comparar times diferentes.</a:t>
            </a:r>
            <a:endParaRPr lang="pt-BR" sz="1200" noProof="1"/>
          </a:p>
        </p:txBody>
      </p:sp>
      <p:sp>
        <p:nvSpPr>
          <p:cNvPr id="24" name="Shape 19"/>
          <p:cNvSpPr/>
          <p:nvPr/>
        </p:nvSpPr>
        <p:spPr>
          <a:xfrm>
            <a:off x="9052560" y="17373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25" name="Shape 20"/>
          <p:cNvSpPr/>
          <p:nvPr/>
        </p:nvSpPr>
        <p:spPr>
          <a:xfrm>
            <a:off x="9281160" y="1965960"/>
            <a:ext cx="548640" cy="548640"/>
          </a:xfrm>
          <a:prstGeom prst="ellipse">
            <a:avLst/>
          </a:prstGeom>
          <a:solidFill>
            <a:srgbClr val="F2F4FA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4779" y="2119579"/>
            <a:ext cx="241402" cy="24140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81160" y="2670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defeitos</a:t>
            </a:r>
            <a:endParaRPr lang="pt-BR" sz="1700" noProof="1"/>
          </a:p>
        </p:txBody>
      </p:sp>
      <p:sp>
        <p:nvSpPr>
          <p:cNvPr id="28" name="Text 22"/>
          <p:cNvSpPr txBox="1"/>
          <p:nvPr/>
        </p:nvSpPr>
        <p:spPr>
          <a:xfrm>
            <a:off x="9281160" y="2999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que escapam</a:t>
            </a:r>
            <a:endParaRPr lang="pt-BR" sz="1150" noProof="1"/>
          </a:p>
        </p:txBody>
      </p:sp>
      <p:sp>
        <p:nvSpPr>
          <p:cNvPr id="29" name="Text 23"/>
          <p:cNvSpPr txBox="1"/>
          <p:nvPr/>
        </p:nvSpPr>
        <p:spPr>
          <a:xfrm>
            <a:off x="9281160" y="3383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se a pressa está cobrando o preço na qualidade.</a:t>
            </a:r>
            <a:endParaRPr lang="pt-BR" sz="1200" noProof="1"/>
          </a:p>
        </p:txBody>
      </p:sp>
      <p:sp>
        <p:nvSpPr>
          <p:cNvPr id="30" name="Shape 24"/>
          <p:cNvSpPr/>
          <p:nvPr/>
        </p:nvSpPr>
        <p:spPr>
          <a:xfrm>
            <a:off x="685800" y="5166360"/>
            <a:ext cx="10820095" cy="914400"/>
          </a:xfrm>
          <a:prstGeom prst="roundRect">
            <a:avLst>
              <a:gd name="adj" fmla="val 12000"/>
            </a:avLst>
          </a:prstGeom>
          <a:solidFill>
            <a:srgbClr val="22306B"/>
          </a:solidFill>
          <a:ln w="12700">
            <a:solidFill>
              <a:srgbClr val="22306B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1" name="Shape 25"/>
          <p:cNvSpPr/>
          <p:nvPr/>
        </p:nvSpPr>
        <p:spPr>
          <a:xfrm>
            <a:off x="960120" y="5394960"/>
            <a:ext cx="457200" cy="457200"/>
          </a:xfrm>
          <a:prstGeom prst="ellipse">
            <a:avLst/>
          </a:prstGeom>
          <a:solidFill>
            <a:srgbClr val="2E3D7E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" y="5522976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600200" y="53675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 vira meta, métrica estraga.</a:t>
            </a:r>
            <a:endParaRPr lang="pt-BR" sz="1500" noProof="1"/>
          </a:p>
        </p:txBody>
      </p:sp>
      <p:sp>
        <p:nvSpPr>
          <p:cNvPr id="34" name="Text 27"/>
          <p:cNvSpPr txBox="1"/>
          <p:nvPr/>
        </p:nvSpPr>
        <p:spPr>
          <a:xfrm>
            <a:off x="1600200" y="56692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200" b="1" dirty="0">
                <a:solidFill>
                  <a:schemeClr val="bg1"/>
                </a:solidFill>
              </a:rPr>
              <a:t>Métrica é um espelho para o time melhorar, não uma nota para cobrar ninguém.</a:t>
            </a:r>
            <a:endParaRPr lang="pt-BR" sz="1200" dirty="0">
              <a:solidFill>
                <a:schemeClr val="bg1"/>
              </a:solidFill>
              <a:effectLst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IMPACTO REAL</a:t>
            </a:r>
            <a:endParaRPr lang="pt-BR" sz="900" noProof="1"/>
          </a:p>
        </p:txBody>
      </p:sp>
      <p:sp>
        <p:nvSpPr>
          <p:cNvPr id="36" name="Text 29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pt-BR" sz="9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valor chega na mão de quem usa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9677095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9677095" y="868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pt-BR" sz="1100" noProof="1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465107815"/>
              </p:ext>
            </p:extLst>
          </p:nvPr>
        </p:nvGraphicFramePr>
        <p:xfrm>
          <a:off x="685800" y="1737360"/>
          <a:ext cx="72237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73736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E3F4EE"/>
          </a:solidFill>
          <a:ln w="12700">
            <a:solidFill>
              <a:srgbClr val="E3F4EE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8" name="Text 5"/>
          <p:cNvSpPr txBox="1"/>
          <p:nvPr/>
        </p:nvSpPr>
        <p:spPr>
          <a:xfrm>
            <a:off x="850392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</a:t>
            </a:r>
            <a:endParaRPr lang="pt-BR" sz="1500" noProof="1"/>
          </a:p>
        </p:txBody>
      </p:sp>
      <p:sp>
        <p:nvSpPr>
          <p:cNvPr id="9" name="Text 6"/>
          <p:cNvSpPr txBox="1"/>
          <p:nvPr/>
        </p:nvSpPr>
        <p:spPr>
          <a:xfrm>
            <a:off x="8503920" y="22860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cascata, cancelar o projeto na semana 7 significa jogar tudo fora. No iterativo, sete oitavos já estão em uso.</a:t>
            </a:r>
            <a:endParaRPr lang="pt-BR" sz="1200" noProof="1"/>
          </a:p>
        </p:txBody>
      </p:sp>
      <p:sp>
        <p:nvSpPr>
          <p:cNvPr id="10" name="Shape 7"/>
          <p:cNvSpPr/>
          <p:nvPr/>
        </p:nvSpPr>
        <p:spPr>
          <a:xfrm>
            <a:off x="8229600" y="384048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1" name="Text 8"/>
          <p:cNvSpPr txBox="1"/>
          <p:nvPr/>
        </p:nvSpPr>
        <p:spPr>
          <a:xfrm>
            <a:off x="850392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Correção de rumo</a:t>
            </a:r>
            <a:endParaRPr lang="pt-BR" sz="1500" noProof="1"/>
          </a:p>
        </p:txBody>
      </p:sp>
      <p:sp>
        <p:nvSpPr>
          <p:cNvPr id="12" name="Text 9"/>
          <p:cNvSpPr txBox="1"/>
          <p:nvPr/>
        </p:nvSpPr>
        <p:spPr>
          <a:xfrm>
            <a:off x="8503920" y="4389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entrega parcial é uma chance de mudar o rumo com tempo hábil. Na cascata, a primeira chance aparece quando já não dá para usar.</a:t>
            </a:r>
            <a:endParaRPr lang="pt-BR" sz="1200" noProof="1"/>
          </a:p>
        </p:txBody>
      </p:sp>
      <p:sp>
        <p:nvSpPr>
          <p:cNvPr id="13" name="Text 10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IMPACTO REAL</a:t>
            </a:r>
            <a:endParaRPr lang="pt-BR" sz="900" noProof="1"/>
          </a:p>
        </p:txBody>
      </p:sp>
      <p:sp>
        <p:nvSpPr>
          <p:cNvPr id="14" name="Text 11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pt-BR" sz="9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isso está indo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9677095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9677095" y="868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pt-BR" sz="1100" noProof="1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7" name="Shape 5"/>
          <p:cNvSpPr/>
          <p:nvPr/>
        </p:nvSpPr>
        <p:spPr>
          <a:xfrm>
            <a:off x="960120" y="1965960"/>
            <a:ext cx="566928" cy="566928"/>
          </a:xfrm>
          <a:prstGeom prst="ellipse">
            <a:avLst/>
          </a:prstGeom>
          <a:solidFill>
            <a:srgbClr val="F2F4FA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2124700"/>
            <a:ext cx="249448" cy="2494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pt-BR" sz="1800" noProof="1"/>
          </a:p>
        </p:txBody>
      </p:sp>
      <p:sp>
        <p:nvSpPr>
          <p:cNvPr id="10" name="Text 7"/>
          <p:cNvSpPr txBox="1"/>
          <p:nvPr/>
        </p:nvSpPr>
        <p:spPr>
          <a:xfrm>
            <a:off x="960120" y="2697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2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entrega contínuas: o incremento vai para produção sozinho, testado, várias vezes por dia.</a:t>
            </a:r>
            <a:endParaRPr lang="pt-BR" sz="1250" noProof="1"/>
          </a:p>
        </p:txBody>
      </p:sp>
      <p:sp>
        <p:nvSpPr>
          <p:cNvPr id="11" name="Shape 8"/>
          <p:cNvSpPr/>
          <p:nvPr/>
        </p:nvSpPr>
        <p:spPr>
          <a:xfrm>
            <a:off x="4389120" y="17373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2" name="Shape 9"/>
          <p:cNvSpPr/>
          <p:nvPr/>
        </p:nvSpPr>
        <p:spPr>
          <a:xfrm>
            <a:off x="4663440" y="1965960"/>
            <a:ext cx="566928" cy="566928"/>
          </a:xfrm>
          <a:prstGeom prst="ellipse">
            <a:avLst/>
          </a:prstGeom>
          <a:solidFill>
            <a:srgbClr val="F2F4FA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180" y="2124700"/>
            <a:ext cx="249448" cy="2494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pt-BR" sz="1800" noProof="1"/>
          </a:p>
        </p:txBody>
      </p:sp>
      <p:sp>
        <p:nvSpPr>
          <p:cNvPr id="15" name="Text 11"/>
          <p:cNvSpPr txBox="1"/>
          <p:nvPr/>
        </p:nvSpPr>
        <p:spPr>
          <a:xfrm>
            <a:off x="4663440" y="2697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2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constrói também opera. O ciclo passa a incluir o que acontece depois do deploy.</a:t>
            </a:r>
            <a:endParaRPr lang="pt-BR" sz="1250" noProof="1"/>
          </a:p>
        </p:txBody>
      </p:sp>
      <p:sp>
        <p:nvSpPr>
          <p:cNvPr id="16" name="Shape 12"/>
          <p:cNvSpPr/>
          <p:nvPr/>
        </p:nvSpPr>
        <p:spPr>
          <a:xfrm>
            <a:off x="8092440" y="17373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7" name="Shape 13"/>
          <p:cNvSpPr/>
          <p:nvPr/>
        </p:nvSpPr>
        <p:spPr>
          <a:xfrm>
            <a:off x="8366760" y="1965960"/>
            <a:ext cx="566928" cy="566928"/>
          </a:xfrm>
          <a:prstGeom prst="ellipse">
            <a:avLst/>
          </a:prstGeom>
          <a:solidFill>
            <a:srgbClr val="F2F4FA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5500" y="2124700"/>
            <a:ext cx="249448" cy="2494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98280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no ciclo</a:t>
            </a:r>
            <a:endParaRPr lang="pt-BR" sz="1800" noProof="1"/>
          </a:p>
        </p:txBody>
      </p:sp>
      <p:sp>
        <p:nvSpPr>
          <p:cNvPr id="20" name="Text 15"/>
          <p:cNvSpPr txBox="1"/>
          <p:nvPr/>
        </p:nvSpPr>
        <p:spPr>
          <a:xfrm>
            <a:off x="8366760" y="2697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pt-BR" sz="12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código, testes e revisão assistidos encurtam a iteração — e aumentam a necessidade de revisar bem.</a:t>
            </a:r>
            <a:endParaRPr lang="pt-BR" sz="1250" noProof="1"/>
          </a:p>
        </p:txBody>
      </p:sp>
      <p:sp>
        <p:nvSpPr>
          <p:cNvPr id="21" name="Shape 16"/>
          <p:cNvSpPr/>
          <p:nvPr/>
        </p:nvSpPr>
        <p:spPr>
          <a:xfrm>
            <a:off x="685800" y="4251960"/>
            <a:ext cx="10820095" cy="1783080"/>
          </a:xfrm>
          <a:prstGeom prst="roundRect">
            <a:avLst>
              <a:gd name="adj" fmla="val 6154"/>
            </a:avLst>
          </a:prstGeom>
          <a:solidFill>
            <a:srgbClr val="22306B"/>
          </a:solidFill>
          <a:ln w="12700">
            <a:solidFill>
              <a:srgbClr val="22306B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2" name="Shape 17"/>
          <p:cNvSpPr/>
          <p:nvPr/>
        </p:nvSpPr>
        <p:spPr>
          <a:xfrm>
            <a:off x="1005840" y="4526280"/>
            <a:ext cx="502920" cy="502920"/>
          </a:xfrm>
          <a:prstGeom prst="ellipse">
            <a:avLst/>
          </a:prstGeom>
          <a:solidFill>
            <a:srgbClr val="2E3D7E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658" y="4667098"/>
            <a:ext cx="221285" cy="22128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91640" y="45902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quando iterativo não é a melhor escolha?</a:t>
            </a:r>
            <a:endParaRPr lang="pt-BR" sz="1700" noProof="1"/>
          </a:p>
        </p:txBody>
      </p:sp>
      <p:sp>
        <p:nvSpPr>
          <p:cNvPr id="25" name="Shape 19"/>
          <p:cNvSpPr/>
          <p:nvPr/>
        </p:nvSpPr>
        <p:spPr>
          <a:xfrm>
            <a:off x="1691640" y="5093208"/>
            <a:ext cx="91440" cy="9144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6" name="Text 20"/>
          <p:cNvSpPr txBox="1"/>
          <p:nvPr/>
        </p:nvSpPr>
        <p:spPr>
          <a:xfrm>
            <a:off x="1874520" y="50109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1">
                <a:solidFill>
                  <a:srgbClr val="D7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travados por contrato ou norma, sem espaço para mudar no meio</a:t>
            </a:r>
            <a:endParaRPr lang="pt-BR" sz="1250" noProof="1"/>
          </a:p>
        </p:txBody>
      </p:sp>
      <p:sp>
        <p:nvSpPr>
          <p:cNvPr id="27" name="Shape 21"/>
          <p:cNvSpPr/>
          <p:nvPr/>
        </p:nvSpPr>
        <p:spPr>
          <a:xfrm>
            <a:off x="1691640" y="5422392"/>
            <a:ext cx="91440" cy="9144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8" name="Text 22"/>
          <p:cNvSpPr txBox="1"/>
          <p:nvPr/>
        </p:nvSpPr>
        <p:spPr>
          <a:xfrm>
            <a:off x="1874520" y="534009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1">
                <a:solidFill>
                  <a:srgbClr val="D7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físicos, em que refazer um lote custa caro e demora</a:t>
            </a:r>
            <a:endParaRPr lang="pt-BR" sz="1250" noProof="1"/>
          </a:p>
        </p:txBody>
      </p:sp>
      <p:sp>
        <p:nvSpPr>
          <p:cNvPr id="29" name="Shape 23"/>
          <p:cNvSpPr/>
          <p:nvPr/>
        </p:nvSpPr>
        <p:spPr>
          <a:xfrm>
            <a:off x="1691640" y="5751576"/>
            <a:ext cx="91440" cy="9144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0" name="Text 24"/>
          <p:cNvSpPr txBox="1"/>
          <p:nvPr/>
        </p:nvSpPr>
        <p:spPr>
          <a:xfrm>
            <a:off x="1874520" y="56692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1">
                <a:solidFill>
                  <a:srgbClr val="D7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 que a primeira versão já precisa estar certificada (aviação, saúde)</a:t>
            </a:r>
            <a:endParaRPr lang="pt-BR" sz="1250" noProof="1"/>
          </a:p>
        </p:txBody>
      </p:sp>
      <p:sp>
        <p:nvSpPr>
          <p:cNvPr id="31" name="Text 25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IMPACTO REAL</a:t>
            </a:r>
            <a:endParaRPr lang="pt-BR" sz="900" noProof="1"/>
          </a:p>
        </p:txBody>
      </p:sp>
      <p:sp>
        <p:nvSpPr>
          <p:cNvPr id="32" name="Text 26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pt-BR" sz="9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23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05840"/>
            <a:ext cx="4754880" cy="4754880"/>
          </a:xfrm>
          <a:prstGeom prst="donut">
            <a:avLst/>
          </a:prstGeom>
          <a:solidFill>
            <a:srgbClr val="3D4C92">
              <a:alpha val="40000"/>
            </a:srgbClr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" name="Shape 1"/>
          <p:cNvSpPr/>
          <p:nvPr/>
        </p:nvSpPr>
        <p:spPr>
          <a:xfrm>
            <a:off x="9966960" y="2377440"/>
            <a:ext cx="2011680" cy="2011680"/>
          </a:xfrm>
          <a:prstGeom prst="ellipse">
            <a:avLst/>
          </a:prstGeom>
          <a:solidFill>
            <a:srgbClr val="17204A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0" y="2940710"/>
            <a:ext cx="885139" cy="8851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6800" b="1" noProof="1">
                <a:solidFill>
                  <a:srgbClr val="3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pt-BR" sz="6800" noProof="1"/>
          </a:p>
        </p:txBody>
      </p:sp>
      <p:sp>
        <p:nvSpPr>
          <p:cNvPr id="6" name="Text 3"/>
          <p:cNvSpPr txBox="1"/>
          <p:nvPr/>
        </p:nvSpPr>
        <p:spPr>
          <a:xfrm>
            <a:off x="685800" y="2514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3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trabalho em grupo,</a:t>
            </a:r>
            <a:endParaRPr lang="pt-BR" sz="3800" noProof="1"/>
          </a:p>
          <a:p>
            <a:pPr marL="0" indent="0">
              <a:lnSpc>
                <a:spcPct val="95000"/>
              </a:lnSpc>
              <a:buNone/>
            </a:pPr>
            <a:r>
              <a:rPr lang="pt-BR" sz="3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dois jeitos</a:t>
            </a:r>
            <a:endParaRPr lang="pt-BR" sz="3800" noProof="1"/>
          </a:p>
        </p:txBody>
      </p:sp>
      <p:sp>
        <p:nvSpPr>
          <p:cNvPr id="7" name="Shape 4"/>
          <p:cNvSpPr/>
          <p:nvPr/>
        </p:nvSpPr>
        <p:spPr>
          <a:xfrm>
            <a:off x="685800" y="3794760"/>
            <a:ext cx="1097280" cy="45720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8" name="Shape 5"/>
          <p:cNvSpPr/>
          <p:nvPr/>
        </p:nvSpPr>
        <p:spPr>
          <a:xfrm>
            <a:off x="685800" y="4206240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9" name="Text 6"/>
          <p:cNvSpPr txBox="1"/>
          <p:nvPr/>
        </p:nvSpPr>
        <p:spPr>
          <a:xfrm>
            <a:off x="941832" y="41148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1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trabalho, o mesmo prazo, a mesma equipe</a:t>
            </a:r>
            <a:endParaRPr lang="pt-BR" sz="1400" noProof="1"/>
          </a:p>
        </p:txBody>
      </p:sp>
      <p:sp>
        <p:nvSpPr>
          <p:cNvPr id="10" name="Shape 7"/>
          <p:cNvSpPr/>
          <p:nvPr/>
        </p:nvSpPr>
        <p:spPr>
          <a:xfrm>
            <a:off x="685800" y="4626864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1" name="Text 8"/>
          <p:cNvSpPr txBox="1"/>
          <p:nvPr/>
        </p:nvSpPr>
        <p:spPr>
          <a:xfrm>
            <a:off x="941832" y="453542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1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só a forma de organizar o tempo</a:t>
            </a:r>
            <a:endParaRPr lang="pt-BR" sz="1400" noProof="1"/>
          </a:p>
        </p:txBody>
      </p:sp>
      <p:sp>
        <p:nvSpPr>
          <p:cNvPr id="12" name="Text 9"/>
          <p:cNvSpPr txBox="1"/>
          <p:nvPr/>
        </p:nvSpPr>
        <p:spPr>
          <a:xfrm>
            <a:off x="68580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juntos</a:t>
            </a:r>
            <a:endParaRPr lang="pt-BR" sz="15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jeito cascata</a:t>
            </a:r>
            <a:endParaRPr lang="pt-BR" sz="3200" noProof="1"/>
          </a:p>
        </p:txBody>
      </p:sp>
      <p:sp>
        <p:nvSpPr>
          <p:cNvPr id="6" name="Shape 4"/>
          <p:cNvSpPr/>
          <p:nvPr/>
        </p:nvSpPr>
        <p:spPr>
          <a:xfrm>
            <a:off x="2148840" y="1920240"/>
            <a:ext cx="18288" cy="2743200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7" name="Text 5"/>
          <p:cNvSpPr txBox="1"/>
          <p:nvPr/>
        </p:nvSpPr>
        <p:spPr>
          <a:xfrm>
            <a:off x="214884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pt-BR" sz="1050" noProof="1"/>
          </a:p>
        </p:txBody>
      </p:sp>
      <p:sp>
        <p:nvSpPr>
          <p:cNvPr id="8" name="Shape 6"/>
          <p:cNvSpPr/>
          <p:nvPr/>
        </p:nvSpPr>
        <p:spPr>
          <a:xfrm>
            <a:off x="3977640" y="1920240"/>
            <a:ext cx="18288" cy="2743200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9" name="Text 7"/>
          <p:cNvSpPr txBox="1"/>
          <p:nvPr/>
        </p:nvSpPr>
        <p:spPr>
          <a:xfrm>
            <a:off x="397764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pt-BR" sz="1050" noProof="1"/>
          </a:p>
        </p:txBody>
      </p:sp>
      <p:sp>
        <p:nvSpPr>
          <p:cNvPr id="10" name="Shape 8"/>
          <p:cNvSpPr/>
          <p:nvPr/>
        </p:nvSpPr>
        <p:spPr>
          <a:xfrm>
            <a:off x="5806440" y="1920240"/>
            <a:ext cx="18288" cy="2743200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1" name="Text 9"/>
          <p:cNvSpPr txBox="1"/>
          <p:nvPr/>
        </p:nvSpPr>
        <p:spPr>
          <a:xfrm>
            <a:off x="580644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pt-BR" sz="1050" noProof="1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18288" cy="2743200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3" name="Text 11"/>
          <p:cNvSpPr txBox="1"/>
          <p:nvPr/>
        </p:nvSpPr>
        <p:spPr>
          <a:xfrm>
            <a:off x="763524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pt-BR" sz="1050" noProof="1"/>
          </a:p>
        </p:txBody>
      </p:sp>
      <p:sp>
        <p:nvSpPr>
          <p:cNvPr id="14" name="Shape 12"/>
          <p:cNvSpPr/>
          <p:nvPr/>
        </p:nvSpPr>
        <p:spPr>
          <a:xfrm>
            <a:off x="9464040" y="1920240"/>
            <a:ext cx="18288" cy="2743200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5" name="Text 13"/>
          <p:cNvSpPr txBox="1"/>
          <p:nvPr/>
        </p:nvSpPr>
        <p:spPr>
          <a:xfrm>
            <a:off x="946404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pt-BR" sz="1050" noProof="1"/>
          </a:p>
        </p:txBody>
      </p:sp>
      <p:sp>
        <p:nvSpPr>
          <p:cNvPr id="16" name="Shape 14"/>
          <p:cNvSpPr/>
          <p:nvPr/>
        </p:nvSpPr>
        <p:spPr>
          <a:xfrm>
            <a:off x="11292840" y="1920240"/>
            <a:ext cx="18288" cy="2743200"/>
          </a:xfrm>
          <a:prstGeom prst="rect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7" name="Text 15"/>
          <p:cNvSpPr txBox="1"/>
          <p:nvPr/>
        </p:nvSpPr>
        <p:spPr>
          <a:xfrm>
            <a:off x="685800" y="22951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</a:t>
            </a:r>
            <a:endParaRPr lang="pt-BR" sz="1300" noProof="1"/>
          </a:p>
        </p:txBody>
      </p:sp>
      <p:sp>
        <p:nvSpPr>
          <p:cNvPr id="18" name="Shape 16"/>
          <p:cNvSpPr/>
          <p:nvPr/>
        </p:nvSpPr>
        <p:spPr>
          <a:xfrm>
            <a:off x="2148840" y="214884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22306B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9" name="Text 17"/>
          <p:cNvSpPr txBox="1"/>
          <p:nvPr/>
        </p:nvSpPr>
        <p:spPr>
          <a:xfrm>
            <a:off x="2286000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a introdução sozinho</a:t>
            </a:r>
            <a:endParaRPr lang="pt-BR" sz="1150" noProof="1"/>
          </a:p>
        </p:txBody>
      </p:sp>
      <p:sp>
        <p:nvSpPr>
          <p:cNvPr id="20" name="Text 18"/>
          <p:cNvSpPr txBox="1"/>
          <p:nvPr/>
        </p:nvSpPr>
        <p:spPr>
          <a:xfrm>
            <a:off x="685800" y="31363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</a:t>
            </a:r>
            <a:endParaRPr lang="pt-BR" sz="1300" noProof="1"/>
          </a:p>
        </p:txBody>
      </p:sp>
      <p:sp>
        <p:nvSpPr>
          <p:cNvPr id="21" name="Shape 19"/>
          <p:cNvSpPr/>
          <p:nvPr/>
        </p:nvSpPr>
        <p:spPr>
          <a:xfrm>
            <a:off x="5806440" y="2990088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2" name="Text 20"/>
          <p:cNvSpPr txBox="1"/>
          <p:nvPr/>
        </p:nvSpPr>
        <p:spPr>
          <a:xfrm>
            <a:off x="5943600" y="3145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começa quando a intro chega</a:t>
            </a:r>
            <a:endParaRPr lang="pt-BR" sz="1150" noProof="1"/>
          </a:p>
        </p:txBody>
      </p:sp>
      <p:sp>
        <p:nvSpPr>
          <p:cNvPr id="23" name="Shape 21"/>
          <p:cNvSpPr/>
          <p:nvPr/>
        </p:nvSpPr>
        <p:spPr>
          <a:xfrm>
            <a:off x="2148840" y="2990088"/>
            <a:ext cx="3602736" cy="566928"/>
          </a:xfrm>
          <a:prstGeom prst="roundRect">
            <a:avLst>
              <a:gd name="adj" fmla="val 12903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4" name="Text 22"/>
          <p:cNvSpPr txBox="1"/>
          <p:nvPr/>
        </p:nvSpPr>
        <p:spPr>
          <a:xfrm>
            <a:off x="2148840" y="3145536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i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</a:t>
            </a:r>
            <a:endParaRPr lang="pt-BR" sz="1100" noProof="1"/>
          </a:p>
        </p:txBody>
      </p:sp>
      <p:sp>
        <p:nvSpPr>
          <p:cNvPr id="25" name="Text 23"/>
          <p:cNvSpPr txBox="1"/>
          <p:nvPr/>
        </p:nvSpPr>
        <p:spPr>
          <a:xfrm>
            <a:off x="685800" y="3977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pt-BR" sz="1300" noProof="1"/>
          </a:p>
        </p:txBody>
      </p:sp>
      <p:sp>
        <p:nvSpPr>
          <p:cNvPr id="26" name="Shape 24"/>
          <p:cNvSpPr/>
          <p:nvPr/>
        </p:nvSpPr>
        <p:spPr>
          <a:xfrm>
            <a:off x="9464040" y="383133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7" name="Text 25"/>
          <p:cNvSpPr txBox="1"/>
          <p:nvPr/>
        </p:nvSpPr>
        <p:spPr>
          <a:xfrm>
            <a:off x="9601200" y="39867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tudo e revisa na véspera</a:t>
            </a:r>
            <a:endParaRPr lang="pt-BR" sz="1150" noProof="1"/>
          </a:p>
        </p:txBody>
      </p:sp>
      <p:sp>
        <p:nvSpPr>
          <p:cNvPr id="28" name="Shape 26"/>
          <p:cNvSpPr/>
          <p:nvPr/>
        </p:nvSpPr>
        <p:spPr>
          <a:xfrm>
            <a:off x="2148840" y="3831336"/>
            <a:ext cx="7260336" cy="566928"/>
          </a:xfrm>
          <a:prstGeom prst="roundRect">
            <a:avLst>
              <a:gd name="adj" fmla="val 12903"/>
            </a:avLst>
          </a:prstGeom>
          <a:solidFill>
            <a:srgbClr val="F2F4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9" name="Text 27"/>
          <p:cNvSpPr txBox="1"/>
          <p:nvPr/>
        </p:nvSpPr>
        <p:spPr>
          <a:xfrm>
            <a:off x="2148840" y="3986784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i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</a:t>
            </a:r>
            <a:endParaRPr lang="pt-BR" sz="1100" noProof="1"/>
          </a:p>
        </p:txBody>
      </p:sp>
      <p:sp>
        <p:nvSpPr>
          <p:cNvPr id="30" name="Text 28"/>
          <p:cNvSpPr txBox="1"/>
          <p:nvPr/>
        </p:nvSpPr>
        <p:spPr>
          <a:xfrm>
            <a:off x="52578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50" b="1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vez que os três veem o trabalho inteiro</a:t>
            </a:r>
            <a:endParaRPr lang="pt-BR" sz="1150" noProof="1"/>
          </a:p>
        </p:txBody>
      </p:sp>
      <p:sp>
        <p:nvSpPr>
          <p:cNvPr id="31" name="Shape 29"/>
          <p:cNvSpPr/>
          <p:nvPr/>
        </p:nvSpPr>
        <p:spPr>
          <a:xfrm>
            <a:off x="9464040" y="1920240"/>
            <a:ext cx="27432" cy="3108960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2" name="Shape 30"/>
          <p:cNvSpPr/>
          <p:nvPr/>
        </p:nvSpPr>
        <p:spPr>
          <a:xfrm>
            <a:off x="685800" y="5212080"/>
            <a:ext cx="10820095" cy="914400"/>
          </a:xfrm>
          <a:prstGeom prst="roundRect">
            <a:avLst>
              <a:gd name="adj" fmla="val 12000"/>
            </a:avLst>
          </a:prstGeom>
          <a:solidFill>
            <a:srgbClr val="FDE7E5"/>
          </a:solidFill>
          <a:ln w="12700">
            <a:solidFill>
              <a:srgbClr val="FDE7E5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3" name="Text 31"/>
          <p:cNvSpPr txBox="1"/>
          <p:nvPr/>
        </p:nvSpPr>
        <p:spPr>
          <a:xfrm>
            <a:off x="1005840" y="53949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semanas de calendário para ~3 semanas de trabalho.</a:t>
            </a:r>
            <a:endParaRPr lang="pt-BR" sz="1500" noProof="1"/>
          </a:p>
        </p:txBody>
      </p:sp>
      <p:sp>
        <p:nvSpPr>
          <p:cNvPr id="34" name="Text 32"/>
          <p:cNvSpPr txBox="1"/>
          <p:nvPr/>
        </p:nvSpPr>
        <p:spPr>
          <a:xfrm>
            <a:off x="1005840" y="570585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tema da introdução estiver errado, o JP descobre um dia antes da apresentação — quando não dá mais para mudar nada.</a:t>
            </a:r>
            <a:endParaRPr lang="pt-BR" sz="1250" noProof="1"/>
          </a:p>
        </p:txBody>
      </p:sp>
      <p:sp>
        <p:nvSpPr>
          <p:cNvPr id="35" name="Text 33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EXEMPLO PRÁTICO</a:t>
            </a:r>
            <a:endParaRPr lang="pt-BR" sz="900" noProof="1"/>
          </a:p>
        </p:txBody>
      </p:sp>
      <p:sp>
        <p:nvSpPr>
          <p:cNvPr id="36" name="Text 34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pt-BR" sz="9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jeito iterativo e incremental</a:t>
            </a:r>
            <a:endParaRPr lang="pt-BR" sz="3200" noProof="1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7" name="Text 5"/>
          <p:cNvSpPr txBox="1"/>
          <p:nvPr/>
        </p:nvSpPr>
        <p:spPr>
          <a:xfrm>
            <a:off x="960120" y="1901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kern="0" spc="12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pt-BR" sz="1050" noProof="1"/>
          </a:p>
        </p:txBody>
      </p:sp>
      <p:sp>
        <p:nvSpPr>
          <p:cNvPr id="8" name="Text 6"/>
          <p:cNvSpPr txBox="1"/>
          <p:nvPr/>
        </p:nvSpPr>
        <p:spPr>
          <a:xfrm>
            <a:off x="960120" y="2176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Esqueleto do trabalho</a:t>
            </a:r>
            <a:endParaRPr lang="pt-BR" sz="1700" noProof="1"/>
          </a:p>
        </p:txBody>
      </p:sp>
      <p:sp>
        <p:nvSpPr>
          <p:cNvPr id="9" name="Shape 7"/>
          <p:cNvSpPr/>
          <p:nvPr/>
        </p:nvSpPr>
        <p:spPr>
          <a:xfrm>
            <a:off x="960120" y="2688336"/>
            <a:ext cx="91440" cy="91440"/>
          </a:xfrm>
          <a:prstGeom prst="ellipse">
            <a:avLst/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0" name="Text 8"/>
          <p:cNvSpPr txBox="1"/>
          <p:nvPr/>
        </p:nvSpPr>
        <p:spPr>
          <a:xfrm>
            <a:off x="114300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Matheus: tema e fontes</a:t>
            </a:r>
            <a:endParaRPr lang="pt-BR" sz="1200" noProof="1"/>
          </a:p>
        </p:txBody>
      </p:sp>
      <p:sp>
        <p:nvSpPr>
          <p:cNvPr id="11" name="Shape 9"/>
          <p:cNvSpPr/>
          <p:nvPr/>
        </p:nvSpPr>
        <p:spPr>
          <a:xfrm>
            <a:off x="960120" y="3017520"/>
            <a:ext cx="91440" cy="91440"/>
          </a:xfrm>
          <a:prstGeom prst="ellipse">
            <a:avLst/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2" name="Text 10"/>
          <p:cNvSpPr txBox="1"/>
          <p:nvPr/>
        </p:nvSpPr>
        <p:spPr>
          <a:xfrm>
            <a:off x="1143000" y="2935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Davi: estrutura dos tópicos</a:t>
            </a:r>
            <a:endParaRPr lang="pt-BR" sz="1200" noProof="1"/>
          </a:p>
        </p:txBody>
      </p:sp>
      <p:sp>
        <p:nvSpPr>
          <p:cNvPr id="13" name="Shape 11"/>
          <p:cNvSpPr/>
          <p:nvPr/>
        </p:nvSpPr>
        <p:spPr>
          <a:xfrm>
            <a:off x="960120" y="3346704"/>
            <a:ext cx="91440" cy="91440"/>
          </a:xfrm>
          <a:prstGeom prst="ellipse">
            <a:avLst/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4" name="Text 12"/>
          <p:cNvSpPr txBox="1"/>
          <p:nvPr/>
        </p:nvSpPr>
        <p:spPr>
          <a:xfrm>
            <a:off x="1143000" y="3264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JP: critérios da rubrica</a:t>
            </a:r>
            <a:endParaRPr lang="pt-BR" sz="1200" noProof="1"/>
          </a:p>
        </p:txBody>
      </p:sp>
      <p:sp>
        <p:nvSpPr>
          <p:cNvPr id="15" name="Shape 13"/>
          <p:cNvSpPr/>
          <p:nvPr/>
        </p:nvSpPr>
        <p:spPr>
          <a:xfrm>
            <a:off x="960120" y="379476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6" name="Text 14"/>
          <p:cNvSpPr txBox="1"/>
          <p:nvPr/>
        </p:nvSpPr>
        <p:spPr>
          <a:xfrm>
            <a:off x="1097280" y="3913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100" noProof="1">
                <a:solidFill>
                  <a:srgbClr val="1E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</a:t>
            </a:r>
            <a:endParaRPr lang="pt-BR" sz="950" noProof="1"/>
          </a:p>
        </p:txBody>
      </p:sp>
      <p:sp>
        <p:nvSpPr>
          <p:cNvPr id="17" name="Text 15"/>
          <p:cNvSpPr txBox="1"/>
          <p:nvPr/>
        </p:nvSpPr>
        <p:spPr>
          <a:xfrm>
            <a:off x="109728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 um trabalho de 3 páginas que dá para entregar.</a:t>
            </a:r>
            <a:endParaRPr lang="pt-BR" sz="1150" noProof="1"/>
          </a:p>
        </p:txBody>
      </p:sp>
      <p:sp>
        <p:nvSpPr>
          <p:cNvPr id="18" name="Shape 16"/>
          <p:cNvSpPr/>
          <p:nvPr/>
        </p:nvSpPr>
        <p:spPr>
          <a:xfrm>
            <a:off x="4306824" y="3200400"/>
            <a:ext cx="256032" cy="201168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9" name="Shape 17"/>
          <p:cNvSpPr/>
          <p:nvPr/>
        </p:nvSpPr>
        <p:spPr>
          <a:xfrm>
            <a:off x="4572000" y="169164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20" name="Text 18"/>
          <p:cNvSpPr txBox="1"/>
          <p:nvPr/>
        </p:nvSpPr>
        <p:spPr>
          <a:xfrm>
            <a:off x="4846320" y="1901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kern="0" spc="12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pt-BR" sz="1050" noProof="1"/>
          </a:p>
        </p:txBody>
      </p:sp>
      <p:sp>
        <p:nvSpPr>
          <p:cNvPr id="21" name="Text 19"/>
          <p:cNvSpPr txBox="1"/>
          <p:nvPr/>
        </p:nvSpPr>
        <p:spPr>
          <a:xfrm>
            <a:off x="4846320" y="2176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Miolo escrito</a:t>
            </a:r>
            <a:endParaRPr lang="pt-BR" sz="1700" noProof="1"/>
          </a:p>
        </p:txBody>
      </p:sp>
      <p:sp>
        <p:nvSpPr>
          <p:cNvPr id="22" name="Shape 20"/>
          <p:cNvSpPr/>
          <p:nvPr/>
        </p:nvSpPr>
        <p:spPr>
          <a:xfrm>
            <a:off x="4846320" y="2688336"/>
            <a:ext cx="91440" cy="91440"/>
          </a:xfrm>
          <a:prstGeom prst="ellipse">
            <a:avLst/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3" name="Text 21"/>
          <p:cNvSpPr txBox="1"/>
          <p:nvPr/>
        </p:nvSpPr>
        <p:spPr>
          <a:xfrm>
            <a:off x="502920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Matheus: desenvolvimento</a:t>
            </a:r>
            <a:endParaRPr lang="pt-BR" sz="1200" noProof="1"/>
          </a:p>
        </p:txBody>
      </p:sp>
      <p:sp>
        <p:nvSpPr>
          <p:cNvPr id="24" name="Shape 22"/>
          <p:cNvSpPr/>
          <p:nvPr/>
        </p:nvSpPr>
        <p:spPr>
          <a:xfrm>
            <a:off x="4846320" y="3017520"/>
            <a:ext cx="91440" cy="91440"/>
          </a:xfrm>
          <a:prstGeom prst="ellipse">
            <a:avLst/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5" name="Text 23"/>
          <p:cNvSpPr txBox="1"/>
          <p:nvPr/>
        </p:nvSpPr>
        <p:spPr>
          <a:xfrm>
            <a:off x="5029200" y="2935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Davi: gráficos e dados</a:t>
            </a:r>
            <a:endParaRPr lang="pt-BR" sz="1200" noProof="1"/>
          </a:p>
        </p:txBody>
      </p:sp>
      <p:sp>
        <p:nvSpPr>
          <p:cNvPr id="26" name="Shape 24"/>
          <p:cNvSpPr/>
          <p:nvPr/>
        </p:nvSpPr>
        <p:spPr>
          <a:xfrm>
            <a:off x="4846320" y="3346704"/>
            <a:ext cx="91440" cy="91440"/>
          </a:xfrm>
          <a:prstGeom prst="ellipse">
            <a:avLst/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7" name="Text 25"/>
          <p:cNvSpPr txBox="1"/>
          <p:nvPr/>
        </p:nvSpPr>
        <p:spPr>
          <a:xfrm>
            <a:off x="5029200" y="3264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JP: revisão do que já existe</a:t>
            </a:r>
            <a:endParaRPr lang="pt-BR" sz="1200" noProof="1"/>
          </a:p>
        </p:txBody>
      </p:sp>
      <p:sp>
        <p:nvSpPr>
          <p:cNvPr id="28" name="Shape 26"/>
          <p:cNvSpPr/>
          <p:nvPr/>
        </p:nvSpPr>
        <p:spPr>
          <a:xfrm>
            <a:off x="4846320" y="379476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9" name="Text 27"/>
          <p:cNvSpPr txBox="1"/>
          <p:nvPr/>
        </p:nvSpPr>
        <p:spPr>
          <a:xfrm>
            <a:off x="4983480" y="3913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100" noProof="1">
                <a:solidFill>
                  <a:srgbClr val="1E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</a:t>
            </a:r>
            <a:endParaRPr lang="pt-BR" sz="950" noProof="1"/>
          </a:p>
        </p:txBody>
      </p:sp>
      <p:sp>
        <p:nvSpPr>
          <p:cNvPr id="30" name="Text 28"/>
          <p:cNvSpPr txBox="1"/>
          <p:nvPr/>
        </p:nvSpPr>
        <p:spPr>
          <a:xfrm>
            <a:off x="498348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da semana 1 aplicado antes de escrever mais.</a:t>
            </a:r>
            <a:endParaRPr lang="pt-BR" sz="1150" noProof="1"/>
          </a:p>
        </p:txBody>
      </p:sp>
      <p:sp>
        <p:nvSpPr>
          <p:cNvPr id="31" name="Shape 29"/>
          <p:cNvSpPr/>
          <p:nvPr/>
        </p:nvSpPr>
        <p:spPr>
          <a:xfrm>
            <a:off x="8193024" y="3200400"/>
            <a:ext cx="256032" cy="201168"/>
          </a:xfrm>
          <a:prstGeom prst="rightArrow">
            <a:avLst/>
          </a:prstGeom>
          <a:solidFill>
            <a:srgbClr val="DDE2F0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2" name="Shape 30"/>
          <p:cNvSpPr/>
          <p:nvPr/>
        </p:nvSpPr>
        <p:spPr>
          <a:xfrm>
            <a:off x="8458200" y="169164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33" name="Text 31"/>
          <p:cNvSpPr txBox="1"/>
          <p:nvPr/>
        </p:nvSpPr>
        <p:spPr>
          <a:xfrm>
            <a:off x="8732520" y="1901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kern="0" spc="12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pt-BR" sz="1050" noProof="1"/>
          </a:p>
        </p:txBody>
      </p:sp>
      <p:sp>
        <p:nvSpPr>
          <p:cNvPr id="34" name="Text 32"/>
          <p:cNvSpPr txBox="1"/>
          <p:nvPr/>
        </p:nvSpPr>
        <p:spPr>
          <a:xfrm>
            <a:off x="8732520" y="2176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final</a:t>
            </a:r>
            <a:endParaRPr lang="pt-BR" sz="1700" noProof="1"/>
          </a:p>
        </p:txBody>
      </p:sp>
      <p:sp>
        <p:nvSpPr>
          <p:cNvPr id="35" name="Shape 33"/>
          <p:cNvSpPr/>
          <p:nvPr/>
        </p:nvSpPr>
        <p:spPr>
          <a:xfrm>
            <a:off x="8732520" y="2688336"/>
            <a:ext cx="91440" cy="91440"/>
          </a:xfrm>
          <a:prstGeom prst="ellipse">
            <a:avLst/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6" name="Text 34"/>
          <p:cNvSpPr txBox="1"/>
          <p:nvPr/>
        </p:nvSpPr>
        <p:spPr>
          <a:xfrm>
            <a:off x="891540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Matheus: conclusão</a:t>
            </a:r>
            <a:endParaRPr lang="pt-BR" sz="1200" noProof="1"/>
          </a:p>
        </p:txBody>
      </p:sp>
      <p:sp>
        <p:nvSpPr>
          <p:cNvPr id="37" name="Shape 35"/>
          <p:cNvSpPr/>
          <p:nvPr/>
        </p:nvSpPr>
        <p:spPr>
          <a:xfrm>
            <a:off x="8732520" y="3017520"/>
            <a:ext cx="91440" cy="91440"/>
          </a:xfrm>
          <a:prstGeom prst="ellipse">
            <a:avLst/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8" name="Text 36"/>
          <p:cNvSpPr txBox="1"/>
          <p:nvPr/>
        </p:nvSpPr>
        <p:spPr>
          <a:xfrm>
            <a:off x="8915400" y="2935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Davi: formatação ABNT</a:t>
            </a:r>
            <a:endParaRPr lang="pt-BR" sz="1200" noProof="1"/>
          </a:p>
        </p:txBody>
      </p:sp>
      <p:sp>
        <p:nvSpPr>
          <p:cNvPr id="39" name="Shape 37"/>
          <p:cNvSpPr/>
          <p:nvPr/>
        </p:nvSpPr>
        <p:spPr>
          <a:xfrm>
            <a:off x="8732520" y="3346704"/>
            <a:ext cx="91440" cy="91440"/>
          </a:xfrm>
          <a:prstGeom prst="ellipse">
            <a:avLst/>
          </a:prstGeom>
          <a:solidFill>
            <a:srgbClr val="3D4C92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40" name="Text 38"/>
          <p:cNvSpPr txBox="1"/>
          <p:nvPr/>
        </p:nvSpPr>
        <p:spPr>
          <a:xfrm>
            <a:off x="8915400" y="3264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JP: ensaio da apresentação</a:t>
            </a:r>
            <a:endParaRPr lang="pt-BR" sz="1200" noProof="1"/>
          </a:p>
        </p:txBody>
      </p:sp>
      <p:sp>
        <p:nvSpPr>
          <p:cNvPr id="41" name="Shape 39"/>
          <p:cNvSpPr/>
          <p:nvPr/>
        </p:nvSpPr>
        <p:spPr>
          <a:xfrm>
            <a:off x="8732520" y="379476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42" name="Text 40"/>
          <p:cNvSpPr txBox="1"/>
          <p:nvPr/>
        </p:nvSpPr>
        <p:spPr>
          <a:xfrm>
            <a:off x="8869680" y="3913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100" noProof="1">
                <a:solidFill>
                  <a:srgbClr val="1E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</a:t>
            </a:r>
            <a:endParaRPr lang="pt-BR" sz="950" noProof="1"/>
          </a:p>
        </p:txBody>
      </p:sp>
      <p:sp>
        <p:nvSpPr>
          <p:cNvPr id="43" name="Text 41"/>
          <p:cNvSpPr txBox="1"/>
          <p:nvPr/>
        </p:nvSpPr>
        <p:spPr>
          <a:xfrm>
            <a:off x="886968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novo na véspera — só polimento.</a:t>
            </a:r>
            <a:endParaRPr lang="pt-BR" sz="1150" noProof="1"/>
          </a:p>
        </p:txBody>
      </p:sp>
      <p:sp>
        <p:nvSpPr>
          <p:cNvPr id="44" name="Shape 42"/>
          <p:cNvSpPr/>
          <p:nvPr/>
        </p:nvSpPr>
        <p:spPr>
          <a:xfrm>
            <a:off x="1463040" y="5120640"/>
            <a:ext cx="9326880" cy="219456"/>
          </a:xfrm>
          <a:prstGeom prst="leftArrow">
            <a:avLst/>
          </a:prstGeom>
          <a:solidFill>
            <a:srgbClr val="1E8F6E">
              <a:alpha val="55000"/>
            </a:srgbClr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45" name="Text 43"/>
          <p:cNvSpPr txBox="1"/>
          <p:nvPr/>
        </p:nvSpPr>
        <p:spPr>
          <a:xfrm>
            <a:off x="1463040" y="5413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noProof="1">
                <a:solidFill>
                  <a:srgbClr val="1E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sexta: mostramos, ouvimos o professor e ajustamos antes de escrever a próxima parte</a:t>
            </a:r>
            <a:endParaRPr lang="pt-BR" sz="1250" noProof="1"/>
          </a:p>
        </p:txBody>
      </p:sp>
      <p:sp>
        <p:nvSpPr>
          <p:cNvPr id="46" name="Text 44"/>
          <p:cNvSpPr txBox="1"/>
          <p:nvPr/>
        </p:nvSpPr>
        <p:spPr>
          <a:xfrm>
            <a:off x="685800" y="5852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i="1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prazo. Mesma equipe. O que mudou foi a ordem das conversas.</a:t>
            </a:r>
            <a:endParaRPr lang="pt-BR" sz="1250" noProof="1"/>
          </a:p>
        </p:txBody>
      </p:sp>
      <p:sp>
        <p:nvSpPr>
          <p:cNvPr id="47" name="Text 45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EXEMPLO PRÁTICO</a:t>
            </a:r>
            <a:endParaRPr lang="pt-BR" sz="900" noProof="1"/>
          </a:p>
        </p:txBody>
      </p:sp>
      <p:sp>
        <p:nvSpPr>
          <p:cNvPr id="48" name="Text 46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pt-BR" sz="9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pt-BR" sz="1100" noProof="1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fim das contas</a:t>
            </a:r>
            <a:endParaRPr lang="pt-BR" sz="3200" noProof="1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7" name="Text 5"/>
          <p:cNvSpPr txBox="1"/>
          <p:nvPr/>
        </p:nvSpPr>
        <p:spPr>
          <a:xfrm>
            <a:off x="914400" y="2011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kern="0" spc="6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cascata → iterativo</a:t>
            </a:r>
            <a:endParaRPr lang="pt-BR" sz="950" noProof="1"/>
          </a:p>
        </p:txBody>
      </p:sp>
      <p:sp>
        <p:nvSpPr>
          <p:cNvPr id="8" name="Text 6"/>
          <p:cNvSpPr txBox="1"/>
          <p:nvPr/>
        </p:nvSpPr>
        <p:spPr>
          <a:xfrm>
            <a:off x="914400" y="23042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1">
                <a:solidFill>
                  <a:srgbClr val="F4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3</a:t>
            </a:r>
            <a:endParaRPr lang="pt-BR" sz="3000" noProof="1"/>
          </a:p>
        </p:txBody>
      </p:sp>
      <p:sp>
        <p:nvSpPr>
          <p:cNvPr id="9" name="Text 7"/>
          <p:cNvSpPr txBox="1"/>
          <p:nvPr/>
        </p:nvSpPr>
        <p:spPr>
          <a:xfrm>
            <a:off x="91440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feedbacks recebidos antes da entrega</a:t>
            </a:r>
            <a:endParaRPr lang="pt-BR" sz="1250" noProof="1"/>
          </a:p>
        </p:txBody>
      </p:sp>
      <p:sp>
        <p:nvSpPr>
          <p:cNvPr id="10" name="Shape 8"/>
          <p:cNvSpPr/>
          <p:nvPr/>
        </p:nvSpPr>
        <p:spPr>
          <a:xfrm>
            <a:off x="3474720" y="178308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1" name="Text 9"/>
          <p:cNvSpPr txBox="1"/>
          <p:nvPr/>
        </p:nvSpPr>
        <p:spPr>
          <a:xfrm>
            <a:off x="3703320" y="2011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kern="0" spc="6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cascata → iterativo</a:t>
            </a:r>
            <a:endParaRPr lang="pt-BR" sz="950" noProof="1"/>
          </a:p>
        </p:txBody>
      </p:sp>
      <p:sp>
        <p:nvSpPr>
          <p:cNvPr id="12" name="Text 10"/>
          <p:cNvSpPr txBox="1"/>
          <p:nvPr/>
        </p:nvSpPr>
        <p:spPr>
          <a:xfrm>
            <a:off x="3703320" y="23042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1">
                <a:solidFill>
                  <a:srgbClr val="F4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→ 3</a:t>
            </a:r>
            <a:endParaRPr lang="pt-BR" sz="3000" noProof="1"/>
          </a:p>
        </p:txBody>
      </p:sp>
      <p:sp>
        <p:nvSpPr>
          <p:cNvPr id="13" name="Text 11"/>
          <p:cNvSpPr txBox="1"/>
          <p:nvPr/>
        </p:nvSpPr>
        <p:spPr>
          <a:xfrm>
            <a:off x="370332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de calendário para o mesmo trabalho</a:t>
            </a:r>
            <a:endParaRPr lang="pt-BR" sz="1250" noProof="1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5" name="Text 13"/>
          <p:cNvSpPr txBox="1"/>
          <p:nvPr/>
        </p:nvSpPr>
        <p:spPr>
          <a:xfrm>
            <a:off x="6492240" y="2011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kern="0" spc="6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cascata → iterativo</a:t>
            </a:r>
            <a:endParaRPr lang="pt-BR" sz="950" noProof="1"/>
          </a:p>
        </p:txBody>
      </p:sp>
      <p:sp>
        <p:nvSpPr>
          <p:cNvPr id="16" name="Text 14"/>
          <p:cNvSpPr txBox="1"/>
          <p:nvPr/>
        </p:nvSpPr>
        <p:spPr>
          <a:xfrm>
            <a:off x="6492240" y="23042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1">
                <a:solidFill>
                  <a:srgbClr val="F4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3</a:t>
            </a:r>
            <a:endParaRPr lang="pt-BR" sz="3000" noProof="1"/>
          </a:p>
        </p:txBody>
      </p:sp>
      <p:sp>
        <p:nvSpPr>
          <p:cNvPr id="17" name="Text 15"/>
          <p:cNvSpPr txBox="1"/>
          <p:nvPr/>
        </p:nvSpPr>
        <p:spPr>
          <a:xfrm>
            <a:off x="649224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entregáveis ao longo do caminho</a:t>
            </a:r>
            <a:endParaRPr lang="pt-BR" sz="1250" noProof="1"/>
          </a:p>
        </p:txBody>
      </p:sp>
      <p:sp>
        <p:nvSpPr>
          <p:cNvPr id="18" name="Shape 16"/>
          <p:cNvSpPr/>
          <p:nvPr/>
        </p:nvSpPr>
        <p:spPr>
          <a:xfrm>
            <a:off x="9052560" y="178308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blurRad="127000" dist="25400" dir="5400000" algn="bl" rotWithShape="0">
              <a:srgbClr val="8A93B5">
                <a:alpha val="16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9" name="Text 17"/>
          <p:cNvSpPr txBox="1"/>
          <p:nvPr/>
        </p:nvSpPr>
        <p:spPr>
          <a:xfrm>
            <a:off x="9281160" y="2011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kern="0" spc="6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cascata → iterativo</a:t>
            </a:r>
            <a:endParaRPr lang="pt-BR" sz="950" noProof="1"/>
          </a:p>
        </p:txBody>
      </p:sp>
      <p:sp>
        <p:nvSpPr>
          <p:cNvPr id="20" name="Text 18"/>
          <p:cNvSpPr txBox="1"/>
          <p:nvPr/>
        </p:nvSpPr>
        <p:spPr>
          <a:xfrm>
            <a:off x="9281160" y="23042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900" b="1" noProof="1">
                <a:solidFill>
                  <a:srgbClr val="F4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véspera → sexta</a:t>
            </a:r>
            <a:endParaRPr lang="pt-BR" sz="1900" noProof="1"/>
          </a:p>
        </p:txBody>
      </p:sp>
      <p:sp>
        <p:nvSpPr>
          <p:cNvPr id="21" name="Text 19"/>
          <p:cNvSpPr txBox="1"/>
          <p:nvPr/>
        </p:nvSpPr>
        <p:spPr>
          <a:xfrm>
            <a:off x="928116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pt-BR" sz="1250" noProof="1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problema aparece</a:t>
            </a:r>
            <a:endParaRPr lang="pt-BR" sz="1250" noProof="1"/>
          </a:p>
        </p:txBody>
      </p:sp>
      <p:sp>
        <p:nvSpPr>
          <p:cNvPr id="22" name="Shape 20"/>
          <p:cNvSpPr/>
          <p:nvPr/>
        </p:nvSpPr>
        <p:spPr>
          <a:xfrm>
            <a:off x="685800" y="4434840"/>
            <a:ext cx="10820095" cy="1600200"/>
          </a:xfrm>
          <a:prstGeom prst="roundRect">
            <a:avLst>
              <a:gd name="adj" fmla="val 6857"/>
            </a:avLst>
          </a:prstGeom>
          <a:solidFill>
            <a:srgbClr val="22306B"/>
          </a:solidFill>
          <a:ln w="12700">
            <a:solidFill>
              <a:srgbClr val="22306B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3" name="Shape 21"/>
          <p:cNvSpPr/>
          <p:nvPr/>
        </p:nvSpPr>
        <p:spPr>
          <a:xfrm>
            <a:off x="1005840" y="4754880"/>
            <a:ext cx="548640" cy="548640"/>
          </a:xfrm>
          <a:prstGeom prst="ellipse">
            <a:avLst/>
          </a:prstGeom>
          <a:solidFill>
            <a:srgbClr val="2E3D7E"/>
          </a:solidFill>
          <a:ln/>
        </p:spPr>
        <p:txBody>
          <a:bodyPr/>
          <a:lstStyle/>
          <a:p>
            <a:endParaRPr lang="pt-BR" noProof="1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59" y="4908499"/>
            <a:ext cx="241402" cy="24140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737360" y="47365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1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central, em uma frase</a:t>
            </a:r>
            <a:endParaRPr lang="pt-BR" sz="1300" noProof="1"/>
          </a:p>
        </p:txBody>
      </p:sp>
      <p:sp>
        <p:nvSpPr>
          <p:cNvPr id="26" name="Text 23"/>
          <p:cNvSpPr txBox="1"/>
          <p:nvPr/>
        </p:nvSpPr>
        <p:spPr>
          <a:xfrm>
            <a:off x="1737360" y="50749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melhor errar pequeno e cedo do que errar grande e tarde.</a:t>
            </a:r>
            <a:endParaRPr lang="pt-BR" sz="2200" noProof="1"/>
          </a:p>
        </p:txBody>
      </p:sp>
      <p:sp>
        <p:nvSpPr>
          <p:cNvPr id="27" name="Text 24"/>
          <p:cNvSpPr txBox="1"/>
          <p:nvPr/>
        </p:nvSpPr>
        <p:spPr>
          <a:xfrm>
            <a:off x="1737360" y="55321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1">
                <a:solidFill>
                  <a:srgbClr val="D7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 é dar voltas para melhorar. Incremental é entregar em pedaços úteis. Juntos, transformam risco em aprendizado.</a:t>
            </a:r>
            <a:endParaRPr lang="pt-BR" sz="1250" noProof="1"/>
          </a:p>
        </p:txBody>
      </p:sp>
      <p:sp>
        <p:nvSpPr>
          <p:cNvPr id="28" name="Text 25"/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EXEMPLO PRÁTICO</a:t>
            </a:r>
            <a:endParaRPr lang="pt-BR" sz="900" noProof="1"/>
          </a:p>
        </p:txBody>
      </p:sp>
      <p:sp>
        <p:nvSpPr>
          <p:cNvPr id="29" name="Text 26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pt-BR" sz="9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06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C60A6E-1B05-9AF4-99CE-76C77E56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115118-E666-512E-AE64-BF6C4BE9D5B8}"/>
              </a:ext>
            </a:extLst>
          </p:cNvPr>
          <p:cNvSpPr/>
          <p:nvPr/>
        </p:nvSpPr>
        <p:spPr>
          <a:xfrm>
            <a:off x="-747022" y="-689921"/>
            <a:ext cx="4754880" cy="4754880"/>
          </a:xfrm>
          <a:prstGeom prst="donut">
            <a:avLst/>
          </a:prstGeom>
          <a:solidFill>
            <a:srgbClr val="3D4C92">
              <a:alpha val="40000"/>
            </a:srgbClr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F30FA55-65AD-B4B5-BF0D-F681CFF86590}"/>
              </a:ext>
            </a:extLst>
          </p:cNvPr>
          <p:cNvSpPr/>
          <p:nvPr/>
        </p:nvSpPr>
        <p:spPr>
          <a:xfrm>
            <a:off x="624578" y="710582"/>
            <a:ext cx="2011680" cy="2011680"/>
          </a:xfrm>
          <a:prstGeom prst="ellipse">
            <a:avLst/>
          </a:prstGeom>
          <a:solidFill>
            <a:srgbClr val="17204A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07DBCB1-F536-092B-6E0A-7619ED6ED085}"/>
              </a:ext>
            </a:extLst>
          </p:cNvPr>
          <p:cNvSpPr txBox="1"/>
          <p:nvPr/>
        </p:nvSpPr>
        <p:spPr>
          <a:xfrm>
            <a:off x="4857093" y="3029039"/>
            <a:ext cx="2477813" cy="799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38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pt-BR" sz="3800" noProof="1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48755BC-4693-51DF-BAD8-E39D9AB0F373}"/>
              </a:ext>
            </a:extLst>
          </p:cNvPr>
          <p:cNvSpPr txBox="1"/>
          <p:nvPr/>
        </p:nvSpPr>
        <p:spPr>
          <a:xfrm>
            <a:off x="1346638" y="1089509"/>
            <a:ext cx="567559" cy="1196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78887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utilizadas</a:t>
            </a:r>
            <a:endParaRPr lang="pt-BR" sz="3200" noProof="1"/>
          </a:p>
        </p:txBody>
      </p:sp>
      <p:sp>
        <p:nvSpPr>
          <p:cNvPr id="4" name="Shape 2"/>
          <p:cNvSpPr/>
          <p:nvPr/>
        </p:nvSpPr>
        <p:spPr>
          <a:xfrm>
            <a:off x="685800" y="1819656"/>
            <a:ext cx="128016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 txBox="1"/>
          <p:nvPr/>
        </p:nvSpPr>
        <p:spPr>
          <a:xfrm>
            <a:off x="960120" y="1691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pt-BR" sz="1250" noProof="1"/>
          </a:p>
        </p:txBody>
      </p:sp>
      <p:sp>
        <p:nvSpPr>
          <p:cNvPr id="6" name="Text 4"/>
          <p:cNvSpPr txBox="1"/>
          <p:nvPr/>
        </p:nvSpPr>
        <p:spPr>
          <a:xfrm>
            <a:off x="960120" y="19659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Utilizamos o Claude para pesquisas e criação dos slides, corrigimos layout e textos no próprio PowerPoint</a:t>
            </a:r>
            <a:endParaRPr lang="pt-BR" sz="1150" noProof="1"/>
          </a:p>
        </p:txBody>
      </p:sp>
      <p:sp>
        <p:nvSpPr>
          <p:cNvPr id="31" name="Text 29"/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pt-BR" sz="9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B753B-A0C0-B3AB-DC7A-DE3D2853A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69E7A1-46F9-9CD3-F810-1B6E58E33CD5}"/>
              </a:ext>
            </a:extLst>
          </p:cNvPr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40" noProof="1">
                <a:solidFill>
                  <a:srgbClr val="F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 APROFUNDAR</a:t>
            </a:r>
            <a:endParaRPr lang="pt-BR" sz="11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68291D-02E4-10A6-1283-ED095B589BF2}"/>
              </a:ext>
            </a:extLst>
          </p:cNvPr>
          <p:cNvSpPr txBox="1"/>
          <p:nvPr/>
        </p:nvSpPr>
        <p:spPr>
          <a:xfrm>
            <a:off x="685800" y="7680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1">
                <a:solidFill>
                  <a:srgbClr val="22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20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57D2A84-D0CC-7976-FEE2-F742FC0FE553}"/>
              </a:ext>
            </a:extLst>
          </p:cNvPr>
          <p:cNvSpPr/>
          <p:nvPr/>
        </p:nvSpPr>
        <p:spPr>
          <a:xfrm>
            <a:off x="685800" y="1773936"/>
            <a:ext cx="128016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3191F1F-E909-314C-F782-1FC48400B06E}"/>
              </a:ext>
            </a:extLst>
          </p:cNvPr>
          <p:cNvSpPr txBox="1"/>
          <p:nvPr/>
        </p:nvSpPr>
        <p:spPr>
          <a:xfrm>
            <a:off x="960120" y="1645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Royce, W. (1970)</a:t>
            </a:r>
            <a:endParaRPr lang="pt-BR" sz="1250" noProof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79C824-70B9-C244-BBDA-7E20A5D72EA2}"/>
              </a:ext>
            </a:extLst>
          </p:cNvPr>
          <p:cNvSpPr txBox="1"/>
          <p:nvPr/>
        </p:nvSpPr>
        <p:spPr>
          <a:xfrm>
            <a:off x="96012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Development of Large Software Systems. Proc. IEEE WESCON, 1–9.</a:t>
            </a:r>
            <a:endParaRPr lang="pt-BR" sz="1150" noProof="1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7FEC53C-B06A-3459-227F-DC8F367BE86F}"/>
              </a:ext>
            </a:extLst>
          </p:cNvPr>
          <p:cNvSpPr/>
          <p:nvPr/>
        </p:nvSpPr>
        <p:spPr>
          <a:xfrm>
            <a:off x="685800" y="2642616"/>
            <a:ext cx="128016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9B4774-DD4D-F23E-1035-07F57A3C8464}"/>
              </a:ext>
            </a:extLst>
          </p:cNvPr>
          <p:cNvSpPr txBox="1"/>
          <p:nvPr/>
        </p:nvSpPr>
        <p:spPr>
          <a:xfrm>
            <a:off x="960120" y="25146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Boehm, B. (1988)</a:t>
            </a:r>
            <a:endParaRPr lang="pt-BR" sz="1250" noProof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FCE8A16-65CF-48E3-3A24-80D9755FC99C}"/>
              </a:ext>
            </a:extLst>
          </p:cNvPr>
          <p:cNvSpPr txBox="1"/>
          <p:nvPr/>
        </p:nvSpPr>
        <p:spPr>
          <a:xfrm>
            <a:off x="960120" y="2788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Spiral Model of Software Development and Enhancement. IEEE Computer, 21(5), 61–72.</a:t>
            </a:r>
            <a:endParaRPr lang="pt-BR" sz="1150" noProof="1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EB71791-E04C-E9A6-8381-49CEFDD9F28C}"/>
              </a:ext>
            </a:extLst>
          </p:cNvPr>
          <p:cNvSpPr/>
          <p:nvPr/>
        </p:nvSpPr>
        <p:spPr>
          <a:xfrm>
            <a:off x="685800" y="3511296"/>
            <a:ext cx="128016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FDA4C44-D3FE-7FD1-5157-65501F9DD60C}"/>
              </a:ext>
            </a:extLst>
          </p:cNvPr>
          <p:cNvSpPr txBox="1"/>
          <p:nvPr/>
        </p:nvSpPr>
        <p:spPr>
          <a:xfrm>
            <a:off x="960120" y="3383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Boehm, B.; Basili, V. (2001)</a:t>
            </a:r>
            <a:endParaRPr lang="pt-BR" sz="1250" noProof="1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5038A36-1C1D-0CC7-5B13-636F1BA1B6EF}"/>
              </a:ext>
            </a:extLst>
          </p:cNvPr>
          <p:cNvSpPr txBox="1"/>
          <p:nvPr/>
        </p:nvSpPr>
        <p:spPr>
          <a:xfrm>
            <a:off x="960120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Defect Reduction Top 10 List. IEEE Computer, 34(1), 135–137.</a:t>
            </a:r>
            <a:endParaRPr lang="pt-BR" sz="1150" noProof="1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1366B9F-A7F0-F288-3DF0-EB0FBCC93DF5}"/>
              </a:ext>
            </a:extLst>
          </p:cNvPr>
          <p:cNvSpPr/>
          <p:nvPr/>
        </p:nvSpPr>
        <p:spPr>
          <a:xfrm>
            <a:off x="685800" y="4379975"/>
            <a:ext cx="128016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47EF02A-EC03-2E75-6528-E6F480B9DBE6}"/>
              </a:ext>
            </a:extLst>
          </p:cNvPr>
          <p:cNvSpPr txBox="1"/>
          <p:nvPr/>
        </p:nvSpPr>
        <p:spPr>
          <a:xfrm>
            <a:off x="960120" y="4251959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Beck, K. et al. (2001)</a:t>
            </a:r>
            <a:endParaRPr lang="pt-BR" sz="1250" noProof="1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65184DA-0B0A-E5BF-2F15-34CAF72F5579}"/>
              </a:ext>
            </a:extLst>
          </p:cNvPr>
          <p:cNvSpPr txBox="1"/>
          <p:nvPr/>
        </p:nvSpPr>
        <p:spPr>
          <a:xfrm>
            <a:off x="960120" y="4526279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 para o Desenvolvimento Ágil de Software. agilemanifesto.org.</a:t>
            </a:r>
            <a:endParaRPr lang="pt-BR" sz="1150" noProof="1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9B7D122-5594-F094-49CD-93ED556EA5E5}"/>
              </a:ext>
            </a:extLst>
          </p:cNvPr>
          <p:cNvSpPr/>
          <p:nvPr/>
        </p:nvSpPr>
        <p:spPr>
          <a:xfrm>
            <a:off x="685800" y="5248655"/>
            <a:ext cx="128016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51055B-B718-61E2-2E0A-96D44AA7BFB2}"/>
              </a:ext>
            </a:extLst>
          </p:cNvPr>
          <p:cNvSpPr txBox="1"/>
          <p:nvPr/>
        </p:nvSpPr>
        <p:spPr>
          <a:xfrm>
            <a:off x="960120" y="5120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Poppendieck, M.; Poppendieck, T. (2003)</a:t>
            </a:r>
            <a:endParaRPr lang="pt-BR" sz="1250" noProof="1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B9C1909-9D1E-13B7-33D2-6B026EE7A7F8}"/>
              </a:ext>
            </a:extLst>
          </p:cNvPr>
          <p:cNvSpPr txBox="1"/>
          <p:nvPr/>
        </p:nvSpPr>
        <p:spPr>
          <a:xfrm>
            <a:off x="960120" y="5394959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Software Development: An Agile Toolkit. Addison-Wesley.</a:t>
            </a:r>
            <a:endParaRPr lang="pt-BR" sz="1150" noProof="1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404192E-5299-5909-69B9-CA265694204B}"/>
              </a:ext>
            </a:extLst>
          </p:cNvPr>
          <p:cNvSpPr/>
          <p:nvPr/>
        </p:nvSpPr>
        <p:spPr>
          <a:xfrm>
            <a:off x="6400800" y="1773936"/>
            <a:ext cx="128016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BB0FC70-E5F4-2442-8B8A-09F66FE19123}"/>
              </a:ext>
            </a:extLst>
          </p:cNvPr>
          <p:cNvSpPr txBox="1"/>
          <p:nvPr/>
        </p:nvSpPr>
        <p:spPr>
          <a:xfrm>
            <a:off x="6675120" y="1645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Larman, C.; Basili, V. (2003)</a:t>
            </a:r>
            <a:endParaRPr lang="pt-BR" sz="1250" noProof="1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FF0B422-EF71-D642-27D4-DB95A8A7B723}"/>
              </a:ext>
            </a:extLst>
          </p:cNvPr>
          <p:cNvSpPr txBox="1"/>
          <p:nvPr/>
        </p:nvSpPr>
        <p:spPr>
          <a:xfrm>
            <a:off x="667512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and Incremental Development: A Brief History. IEEE Computer, 36(6), 47–56.</a:t>
            </a:r>
            <a:endParaRPr lang="pt-BR" sz="1150" noProof="1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9D5DB30-9642-48DD-9FB6-DE58104B498E}"/>
              </a:ext>
            </a:extLst>
          </p:cNvPr>
          <p:cNvSpPr/>
          <p:nvPr/>
        </p:nvSpPr>
        <p:spPr>
          <a:xfrm>
            <a:off x="6400800" y="2642616"/>
            <a:ext cx="128016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9ABE225-5814-A0EA-6FFF-F05F41DF3C1D}"/>
              </a:ext>
            </a:extLst>
          </p:cNvPr>
          <p:cNvSpPr txBox="1"/>
          <p:nvPr/>
        </p:nvSpPr>
        <p:spPr>
          <a:xfrm>
            <a:off x="6675120" y="25146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Kniberg, H. (2016)</a:t>
            </a:r>
            <a:endParaRPr lang="pt-BR" sz="1250" noProof="1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A027F3C-3B13-B0DE-8CC6-3F56E69F3556}"/>
              </a:ext>
            </a:extLst>
          </p:cNvPr>
          <p:cNvSpPr txBox="1"/>
          <p:nvPr/>
        </p:nvSpPr>
        <p:spPr>
          <a:xfrm>
            <a:off x="6675120" y="2788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 of MVP. Crisp's Blog. Origem da metáfora do skate ao carro.</a:t>
            </a:r>
            <a:endParaRPr lang="pt-BR" sz="1150" noProof="1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3998140-D1ED-3077-B2C1-F1EF645E88F8}"/>
              </a:ext>
            </a:extLst>
          </p:cNvPr>
          <p:cNvSpPr/>
          <p:nvPr/>
        </p:nvSpPr>
        <p:spPr>
          <a:xfrm>
            <a:off x="6400800" y="3511296"/>
            <a:ext cx="128016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568772C-1AD7-B616-9B9B-8072AE90A137}"/>
              </a:ext>
            </a:extLst>
          </p:cNvPr>
          <p:cNvSpPr txBox="1"/>
          <p:nvPr/>
        </p:nvSpPr>
        <p:spPr>
          <a:xfrm>
            <a:off x="6675120" y="3383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Sommerville, I. (2018)</a:t>
            </a:r>
            <a:endParaRPr lang="pt-BR" sz="1250" noProof="1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DFF233B-45DF-A971-B939-C0FD4E842ADD}"/>
              </a:ext>
            </a:extLst>
          </p:cNvPr>
          <p:cNvSpPr txBox="1"/>
          <p:nvPr/>
        </p:nvSpPr>
        <p:spPr>
          <a:xfrm>
            <a:off x="6675120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Software. 10. ed. Pearson.</a:t>
            </a:r>
            <a:endParaRPr lang="pt-BR" sz="1150" noProof="1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514EB71-E1CB-042A-DBF6-96CCA66F6DA9}"/>
              </a:ext>
            </a:extLst>
          </p:cNvPr>
          <p:cNvSpPr/>
          <p:nvPr/>
        </p:nvSpPr>
        <p:spPr>
          <a:xfrm>
            <a:off x="685800" y="5806440"/>
            <a:ext cx="10820095" cy="566928"/>
          </a:xfrm>
          <a:prstGeom prst="roundRect">
            <a:avLst>
              <a:gd name="adj" fmla="val 19355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44C7F8E-3B27-6911-0869-BF079EA7E42D}"/>
              </a:ext>
            </a:extLst>
          </p:cNvPr>
          <p:cNvSpPr txBox="1"/>
          <p:nvPr/>
        </p:nvSpPr>
        <p:spPr>
          <a:xfrm>
            <a:off x="960120" y="597103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1">
                <a:solidFill>
                  <a:srgbClr val="3D4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de partida: Larman &amp; Basili para a história, o Scrum Guide para a prática, Sommerville cap. 2–3 para a prova.</a:t>
            </a:r>
            <a:endParaRPr lang="pt-BR" sz="1200" noProof="1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B726AE0-4B4F-E067-3BC2-59C0D01669D4}"/>
              </a:ext>
            </a:extLst>
          </p:cNvPr>
          <p:cNvSpPr txBox="1"/>
          <p:nvPr/>
        </p:nvSpPr>
        <p:spPr>
          <a:xfrm>
            <a:off x="685800" y="6345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2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pt-BR" sz="900" noProof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066EE93-7509-BAA4-CA59-84E4633B1656}"/>
              </a:ext>
            </a:extLst>
          </p:cNvPr>
          <p:cNvSpPr txBox="1"/>
          <p:nvPr/>
        </p:nvSpPr>
        <p:spPr>
          <a:xfrm>
            <a:off x="10957255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pt-BR" sz="900" noProof="1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357D2A84-D0CC-7976-FEE2-F742FC0FE553}"/>
              </a:ext>
            </a:extLst>
          </p:cNvPr>
          <p:cNvSpPr/>
          <p:nvPr/>
        </p:nvSpPr>
        <p:spPr>
          <a:xfrm>
            <a:off x="6400800" y="4379975"/>
            <a:ext cx="128016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93191F1F-E909-314C-F782-1FC48400B06E}"/>
              </a:ext>
            </a:extLst>
          </p:cNvPr>
          <p:cNvSpPr txBox="1"/>
          <p:nvPr/>
        </p:nvSpPr>
        <p:spPr>
          <a:xfrm>
            <a:off x="6675120" y="4251959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Schwaber, K.; Sutherland, J. (2020)</a:t>
            </a:r>
            <a:endParaRPr lang="pt-BR" sz="1250" noProof="1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9479C824-70B9-C244-BBDA-7E20A5D72EA2}"/>
              </a:ext>
            </a:extLst>
          </p:cNvPr>
          <p:cNvSpPr txBox="1"/>
          <p:nvPr/>
        </p:nvSpPr>
        <p:spPr>
          <a:xfrm>
            <a:off x="6675120" y="4526279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Guide. scrum.org.</a:t>
            </a:r>
            <a:endParaRPr lang="pt-BR" sz="1150" noProof="1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357D2A84-D0CC-7976-FEE2-F742FC0FE553}"/>
              </a:ext>
            </a:extLst>
          </p:cNvPr>
          <p:cNvSpPr/>
          <p:nvPr/>
        </p:nvSpPr>
        <p:spPr>
          <a:xfrm>
            <a:off x="6400800" y="5248655"/>
            <a:ext cx="128016" cy="27432"/>
          </a:xfrm>
          <a:prstGeom prst="rect">
            <a:avLst/>
          </a:prstGeom>
          <a:solidFill>
            <a:srgbClr val="F4695F"/>
          </a:solidFill>
          <a:ln/>
        </p:spPr>
        <p:txBody>
          <a:bodyPr/>
          <a:lstStyle/>
          <a:p>
            <a:endParaRPr lang="pt-BR" noProof="1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93191F1F-E909-314C-F782-1FC48400B06E}"/>
              </a:ext>
            </a:extLst>
          </p:cNvPr>
          <p:cNvSpPr txBox="1"/>
          <p:nvPr/>
        </p:nvSpPr>
        <p:spPr>
          <a:xfrm>
            <a:off x="6675120" y="5120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1">
                <a:solidFill>
                  <a:srgbClr val="22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Pressman, R.; Maxim, B. (2021)</a:t>
            </a:r>
            <a:endParaRPr lang="pt-BR" sz="1250" noProof="1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9479C824-70B9-C244-BBDA-7E20A5D72EA2}"/>
              </a:ext>
            </a:extLst>
          </p:cNvPr>
          <p:cNvSpPr txBox="1"/>
          <p:nvPr/>
        </p:nvSpPr>
        <p:spPr>
          <a:xfrm>
            <a:off x="6675120" y="5394959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150" noProof="1">
                <a:solidFill>
                  <a:srgbClr val="6B7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Software: uma abordagem profissional. 9. ed. AMGH.</a:t>
            </a:r>
            <a:endParaRPr lang="pt-BR" sz="1150" noProof="1"/>
          </a:p>
        </p:txBody>
      </p:sp>
    </p:spTree>
    <p:extLst>
      <p:ext uri="{BB962C8B-B14F-4D97-AF65-F5344CB8AC3E}">
        <p14:creationId xmlns:p14="http://schemas.microsoft.com/office/powerpoint/2010/main" val="179392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2161</Words>
  <Application>Microsoft Macintosh PowerPoint</Application>
  <PresentationFormat>Widescreen</PresentationFormat>
  <Paragraphs>385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Iterativo e Incremental</dc:title>
  <dc:subject>PptxGenJS Presentation</dc:subject>
  <dc:creator>Davi, Matheus e JP</dc:creator>
  <cp:lastModifiedBy>Davi Ribeiro</cp:lastModifiedBy>
  <cp:revision>6</cp:revision>
  <dcterms:created xsi:type="dcterms:W3CDTF">2026-09-08T16:43:38Z</dcterms:created>
  <dcterms:modified xsi:type="dcterms:W3CDTF">2026-09-08T21:04:37Z</dcterms:modified>
</cp:coreProperties>
</file>